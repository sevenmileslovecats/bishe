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6" r:id="rId10"/>
    <p:sldId id="263" r:id="rId11"/>
    <p:sldId id="264" r:id="rId12"/>
  </p:sldIdLst>
  <p:sldSz cx="7315200" cy="5486400" type="B5JIS"/>
  <p:notesSz cx="6858000" cy="9144000"/>
  <p:defaultTextStyle>
    <a:defPPr>
      <a:defRPr lang="zh-CN"/>
    </a:defPPr>
    <a:lvl1pPr marL="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1pPr>
    <a:lvl2pPr marL="307238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2pPr>
    <a:lvl3pPr marL="61447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3pPr>
    <a:lvl4pPr marL="921715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4pPr>
    <a:lvl5pPr marL="1228954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5pPr>
    <a:lvl6pPr marL="1536192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6pPr>
    <a:lvl7pPr marL="184343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7pPr>
    <a:lvl8pPr marL="2150669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8pPr>
    <a:lvl9pPr marL="245790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2804EB-BB9B-5EF8-C3A0-BB18B61A0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97890"/>
            <a:ext cx="5486400" cy="191008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4C3336-7683-41A7-227C-0E58BA103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881630"/>
            <a:ext cx="5486400" cy="1324610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A3DDCB-8ACE-9E18-30E3-2997C6CE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C79B95-FFB7-044D-4183-D0304BC29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452421-0138-AAAF-C17B-B145AF49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725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D22D90-EADD-F274-657A-6FF6C5032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88121D-3384-3026-1D76-3A555C6DA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6E4CF6-0DF9-BB16-7CF8-CCC6B441D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4D3547-F012-A4BB-69BD-8731CEF0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AAA679-3A50-36EB-4424-C290FC7E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66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7BEB5-8E84-9910-D134-76949AE51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10" y="1367791"/>
            <a:ext cx="6309360" cy="228219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1EB24D-5EC2-AC57-F432-CA4C73ACF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110" y="3671571"/>
            <a:ext cx="6309360" cy="1200150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F3E294-6206-5FBD-4268-5B687F768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64A875-B470-80D6-9392-B38D2206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C55DB1-91B8-8802-E2C9-FD3977A86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70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ED9291-DB80-7025-0E64-16136385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EBD416-737C-7A51-D677-903C5D12D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460500"/>
            <a:ext cx="3108960" cy="34810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E3D209-2F48-26D1-60A4-A8C47D67C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3320" y="1460500"/>
            <a:ext cx="3108960" cy="34810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922650-6332-A108-09DF-E23AAC656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5E5CBF-240F-68B5-1841-01BAEECDD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BD2E49-CBA3-5BC3-F5B6-2220F365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818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B188ED-95CE-8D1E-FC84-C1E013A7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292101"/>
            <a:ext cx="6309360" cy="1060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1B134B-D432-9141-2CCE-00DC20452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873" y="1344930"/>
            <a:ext cx="3094672" cy="659130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FAB416-F6DE-6DB5-147B-A28CE7DBB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873" y="2004060"/>
            <a:ext cx="3094672" cy="29476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2C3ACB-C73C-5AD1-5211-D6BF2D8EEF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320" y="1344930"/>
            <a:ext cx="3109913" cy="659130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F754CD-0CBF-9358-EF13-152FE71E0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320" y="2004060"/>
            <a:ext cx="3109913" cy="29476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8C3FCDF-1A13-D05B-1637-7AB263F35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24DE1A2-D99F-6D56-B24B-E9DAC53E9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A78C3D-ECE6-C17F-6382-D74F2FA8B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26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BDC16-CCF7-858B-76EA-4C2A8DC5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5F0702-50C5-6131-E3B1-68C1A2D6C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E8A214-8A02-2CB4-799E-151BF18DB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947B55-0649-98D2-E3DE-AD2FF3E30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73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0FC7579-E75A-BCFA-225C-A9A298C05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D72681-8677-1FD5-8317-94917C32A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631FB3-319D-F32D-4331-EC96C4DF1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564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C04460-FC7D-14B6-B808-08B7D7B5E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42C074-E454-7D71-62D6-8F3FCD318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9913" y="789940"/>
            <a:ext cx="3703320" cy="3898900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A7752D-C273-E09D-0FB7-91252CC58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A4315E-EA68-6F50-C9A2-32582860A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1CD3F7-666D-5E31-F73C-8E07C37AF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F62EE0-CC1E-A94C-FECE-23E32A312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32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787BBE-D405-866C-497A-BF45EA7BB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4D8ACB7-F8C0-35EE-792E-B83C29F26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09913" y="789940"/>
            <a:ext cx="3703320" cy="3898900"/>
          </a:xfrm>
        </p:spPr>
        <p:txBody>
          <a:bodyPr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D2FE44-9124-FB68-9999-71FB43FE6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A3F2FF-7FEF-612F-C7E6-D1B34D449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CC21C0-E3CB-51D7-22A5-67C929D1D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A96C1B-6A5A-C7BA-2ABF-A11C1CAAD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724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ECD39-698E-E6D4-7106-97F4221D3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1AA902-7DDB-DAD5-1317-0E4557FE9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4AD3A-43AC-45AA-910B-7DD1748D8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C2802-5AB5-E694-F3B6-2C2D75FF0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AAC26-87DB-2052-B016-069CB95E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15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A66BA7-9A80-33F2-32A4-5CE4DA6C1A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234940" y="292100"/>
            <a:ext cx="1577340" cy="464947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2204FF-9331-BA59-12EF-834987B84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2920" y="292100"/>
            <a:ext cx="4640580" cy="464947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C534FB-214F-4E95-3510-4EC26D7E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641B0C-DBB4-E6CE-DD0A-33B69479F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BC7E76-0A93-708D-0840-13ECF578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50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C463BD-E518-32E3-2BF0-18F8CE25D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92101"/>
            <a:ext cx="630936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24BB1E-E042-F8E6-FE2B-BED20208C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460500"/>
            <a:ext cx="630936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D2C52E-1B95-5E1D-46E4-4C2AB7E2E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2920" y="5085080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F90ED8-075C-33C8-A340-FFCFA8FF2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3160" y="5085080"/>
            <a:ext cx="246888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0DBD7A-2341-95C4-284E-D2C863A96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6360" y="5085080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62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38CF54AF-1235-CB93-9E56-5A1284883AC4}"/>
              </a:ext>
            </a:extLst>
          </p:cNvPr>
          <p:cNvSpPr/>
          <p:nvPr/>
        </p:nvSpPr>
        <p:spPr>
          <a:xfrm>
            <a:off x="-1245394" y="-1231901"/>
            <a:ext cx="3429000" cy="3429000"/>
          </a:xfrm>
          <a:prstGeom prst="ellipse">
            <a:avLst/>
          </a:prstGeom>
          <a:solidFill>
            <a:srgbClr val="D5EED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8267E7-67D8-DCE8-591F-6AC0F74CEAA3}"/>
              </a:ext>
            </a:extLst>
          </p:cNvPr>
          <p:cNvSpPr txBox="1"/>
          <p:nvPr/>
        </p:nvSpPr>
        <p:spPr>
          <a:xfrm>
            <a:off x="2076450" y="1821526"/>
            <a:ext cx="39243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000" b="1" dirty="0">
                <a:solidFill>
                  <a:srgbClr val="2C532E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43B2AD-40FE-A11C-ED1C-745FCEF0A76C}"/>
              </a:ext>
            </a:extLst>
          </p:cNvPr>
          <p:cNvSpPr/>
          <p:nvPr/>
        </p:nvSpPr>
        <p:spPr>
          <a:xfrm>
            <a:off x="3455194" y="2692400"/>
            <a:ext cx="9144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4033DD-B9D0-3880-E6BB-C5867A40F867}"/>
              </a:ext>
            </a:extLst>
          </p:cNvPr>
          <p:cNvSpPr txBox="1"/>
          <p:nvPr/>
        </p:nvSpPr>
        <p:spPr>
          <a:xfrm>
            <a:off x="2740819" y="3294185"/>
            <a:ext cx="2188368" cy="139273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800"/>
              </a:spcBef>
            </a:pPr>
            <a:r>
              <a:rPr lang="zh-CN" altLang="en-US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学生：陈丰羽</a:t>
            </a:r>
            <a:r>
              <a:rPr lang="en-US" altLang="zh-CN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
</a:t>
            </a:r>
            <a:r>
              <a:rPr lang="zh-CN" altLang="en-US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专业：计算机科学与技术
指导老师：唐国良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A1B7B05-C6B8-96E6-7CAF-FE73842C5D1A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48E11600-D63B-9BE1-5840-4A6DEF64278B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03A1A67-C742-1709-8802-8BA139D10C3C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E5C004C-B003-035C-89E7-BB64C71C3170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DE37F2-2FB6-93B5-E7F9-E2BBD231F9FF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>
                <a:solidFill>
                  <a:srgbClr val="6D5770"/>
                </a:solidFill>
                <a:latin typeface="Microsoft YaHei" panose="020B0503020204020204" pitchFamily="34" charset="-122"/>
              </a:rPr>
              <a:t>1</a:t>
            </a:r>
            <a:endParaRPr lang="zh-CN" altLang="en-US" sz="80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735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80ED76-64F4-36A9-A593-A7443350ADD1}"/>
              </a:ext>
            </a:extLst>
          </p:cNvPr>
          <p:cNvSpPr/>
          <p:nvPr/>
        </p:nvSpPr>
        <p:spPr>
          <a:xfrm>
            <a:off x="0" y="0"/>
            <a:ext cx="228600" cy="54864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E66AC01-1C11-21DA-D777-4A3AF6693E39}"/>
              </a:ext>
            </a:extLst>
          </p:cNvPr>
          <p:cNvSpPr/>
          <p:nvPr/>
        </p:nvSpPr>
        <p:spPr>
          <a:xfrm>
            <a:off x="5473700" y="-939800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75172B-84C0-DB17-A660-4CDADB012F6D}"/>
              </a:ext>
            </a:extLst>
          </p:cNvPr>
          <p:cNvSpPr txBox="1"/>
          <p:nvPr/>
        </p:nvSpPr>
        <p:spPr>
          <a:xfrm>
            <a:off x="660400" y="431800"/>
            <a:ext cx="787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2C532E"/>
                </a:solidFill>
                <a:latin typeface="Microsoft YaHei" panose="020B0503020204020204" pitchFamily="34" charset="-122"/>
              </a:rPr>
              <a:t>研究背景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98093A-8F2C-5996-77DC-EB73C9BA74DA}"/>
              </a:ext>
            </a:extLst>
          </p:cNvPr>
          <p:cNvSpPr/>
          <p:nvPr/>
        </p:nvSpPr>
        <p:spPr>
          <a:xfrm>
            <a:off x="660400" y="990600"/>
            <a:ext cx="9398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8C958B6-F29B-E3ED-E036-0D7B09BC79E4}"/>
              </a:ext>
            </a:extLst>
          </p:cNvPr>
          <p:cNvSpPr/>
          <p:nvPr/>
        </p:nvSpPr>
        <p:spPr>
          <a:xfrm>
            <a:off x="812800" y="1473200"/>
            <a:ext cx="4953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E14620-7F2F-900E-BADE-0D0A5DBC0386}"/>
              </a:ext>
            </a:extLst>
          </p:cNvPr>
          <p:cNvSpPr txBox="1"/>
          <p:nvPr/>
        </p:nvSpPr>
        <p:spPr>
          <a:xfrm>
            <a:off x="1168400" y="1841500"/>
            <a:ext cx="4191000" cy="193899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5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C532E"/>
                </a:solidFill>
                <a:latin typeface="Microsoft YaHei" panose="020B0503020204020204" pitchFamily="34" charset="-122"/>
              </a:rPr>
              <a:t>公益捐赠涉及捐赠人、接收机构和管理方，多方协同要求高。</a:t>
            </a:r>
          </a:p>
          <a:p>
            <a:pPr>
              <a:spcAft>
                <a:spcPts val="800"/>
              </a:spcAft>
            </a:pPr>
            <a:r>
              <a:rPr lang="en-US" altLang="zh-CN" sz="15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C532E"/>
                </a:solidFill>
                <a:latin typeface="Microsoft YaHei" panose="020B0503020204020204" pitchFamily="34" charset="-122"/>
              </a:rPr>
              <a:t>传统线下管理容易出现信息分散、流转不透明、反馈滞后等问题。</a:t>
            </a:r>
          </a:p>
          <a:p>
            <a:pPr>
              <a:spcAft>
                <a:spcPts val="800"/>
              </a:spcAft>
            </a:pPr>
            <a:r>
              <a:rPr lang="en-US" altLang="zh-CN" sz="15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C532E"/>
                </a:solidFill>
                <a:latin typeface="Microsoft YaHei" panose="020B0503020204020204" pitchFamily="34" charset="-122"/>
              </a:rPr>
              <a:t>捐赠人关心物资是否被验收、是否被分拨、是否真正投入使用。</a:t>
            </a:r>
          </a:p>
          <a:p>
            <a:pPr>
              <a:spcAft>
                <a:spcPts val="800"/>
              </a:spcAft>
            </a:pPr>
            <a:r>
              <a:rPr lang="en-US" altLang="zh-CN" sz="15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C532E"/>
                </a:solidFill>
                <a:latin typeface="Microsoft YaHei" panose="020B0503020204020204" pitchFamily="34" charset="-122"/>
              </a:rPr>
              <a:t>因此需要建设一个可管理、可查询、可追溯的公益捐赠物资管理系统。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FA87F19-5F19-F27C-C975-489A684163DF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8BA4BF5-7856-0C54-E75E-5423016B5C47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8D3A02B-DA98-3B29-35AE-74575884A70E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210E9BB-2EBF-64E8-A17F-77F6AE540353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447296C-DCFE-2895-AA99-05646B947EB8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>
                <a:solidFill>
                  <a:srgbClr val="6D5770"/>
                </a:solidFill>
                <a:latin typeface="Microsoft YaHei" panose="020B0503020204020204" pitchFamily="34" charset="-122"/>
              </a:rPr>
              <a:t>2</a:t>
            </a:r>
            <a:endParaRPr lang="zh-CN" altLang="en-US" sz="80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957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097B492-E8D6-7922-7ADE-4CF2C51B6B34}"/>
              </a:ext>
            </a:extLst>
          </p:cNvPr>
          <p:cNvSpPr/>
          <p:nvPr/>
        </p:nvSpPr>
        <p:spPr>
          <a:xfrm>
            <a:off x="0" y="0"/>
            <a:ext cx="228600" cy="54864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CE404F-094F-9BB1-4A7F-B8358B23EBDA}"/>
              </a:ext>
            </a:extLst>
          </p:cNvPr>
          <p:cNvSpPr/>
          <p:nvPr/>
        </p:nvSpPr>
        <p:spPr>
          <a:xfrm>
            <a:off x="4673600" y="-982990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849B6B-2348-535A-AB12-AE6435F7A3CB}"/>
              </a:ext>
            </a:extLst>
          </p:cNvPr>
          <p:cNvSpPr txBox="1"/>
          <p:nvPr/>
        </p:nvSpPr>
        <p:spPr>
          <a:xfrm>
            <a:off x="660400" y="431800"/>
            <a:ext cx="787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2C532E"/>
                </a:solidFill>
                <a:latin typeface="Microsoft YaHei" panose="020B0503020204020204" pitchFamily="34" charset="-122"/>
              </a:rPr>
              <a:t>系统目标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89D634-1BC4-A8FF-84A0-1768D2EA8F47}"/>
              </a:ext>
            </a:extLst>
          </p:cNvPr>
          <p:cNvSpPr/>
          <p:nvPr/>
        </p:nvSpPr>
        <p:spPr>
          <a:xfrm>
            <a:off x="660400" y="990600"/>
            <a:ext cx="9398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865BE1B-CA73-395D-1829-0B0DABAC065F}"/>
              </a:ext>
            </a:extLst>
          </p:cNvPr>
          <p:cNvSpPr/>
          <p:nvPr/>
        </p:nvSpPr>
        <p:spPr>
          <a:xfrm>
            <a:off x="723900" y="2047662"/>
            <a:ext cx="1841500" cy="17215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DCE4181-C6DA-5D03-BA5C-49C9302DD9F2}"/>
              </a:ext>
            </a:extLst>
          </p:cNvPr>
          <p:cNvSpPr/>
          <p:nvPr/>
        </p:nvSpPr>
        <p:spPr>
          <a:xfrm>
            <a:off x="952500" y="2276262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D5AE89-0CC3-34A8-61B9-24C6748B7885}"/>
              </a:ext>
            </a:extLst>
          </p:cNvPr>
          <p:cNvSpPr txBox="1"/>
          <p:nvPr/>
        </p:nvSpPr>
        <p:spPr>
          <a:xfrm>
            <a:off x="952500" y="2327062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100" b="1">
              <a:solidFill>
                <a:srgbClr val="296F2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1777F3-0CA6-C465-51A9-2AB0862FB6B7}"/>
              </a:ext>
            </a:extLst>
          </p:cNvPr>
          <p:cNvSpPr txBox="1"/>
          <p:nvPr/>
        </p:nvSpPr>
        <p:spPr>
          <a:xfrm>
            <a:off x="1435100" y="2314362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96F29"/>
                </a:solidFill>
                <a:latin typeface="Microsoft YaHei" panose="020B0503020204020204" pitchFamily="34" charset="-122"/>
              </a:rPr>
              <a:t>流程规范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0DB093-F01E-713A-90FE-B3AEACC5975D}"/>
              </a:ext>
            </a:extLst>
          </p:cNvPr>
          <p:cNvSpPr txBox="1"/>
          <p:nvPr/>
        </p:nvSpPr>
        <p:spPr>
          <a:xfrm>
            <a:off x="1003300" y="2784262"/>
            <a:ext cx="1828800" cy="65094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登记、审核、验收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申领、出库、接收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反馈闭环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87F4BE4-11E9-88D3-6024-624E5003C405}"/>
              </a:ext>
            </a:extLst>
          </p:cNvPr>
          <p:cNvSpPr/>
          <p:nvPr/>
        </p:nvSpPr>
        <p:spPr>
          <a:xfrm>
            <a:off x="2895600" y="2056393"/>
            <a:ext cx="1841500" cy="17215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3BAC57F-1FC0-074C-4E16-9C856D96B840}"/>
              </a:ext>
            </a:extLst>
          </p:cNvPr>
          <p:cNvSpPr/>
          <p:nvPr/>
        </p:nvSpPr>
        <p:spPr>
          <a:xfrm>
            <a:off x="3124200" y="2284993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118E052-D71C-5DFB-FEC0-BD163F706B31}"/>
              </a:ext>
            </a:extLst>
          </p:cNvPr>
          <p:cNvSpPr txBox="1"/>
          <p:nvPr/>
        </p:nvSpPr>
        <p:spPr>
          <a:xfrm>
            <a:off x="3143250" y="237877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 dirty="0">
                <a:solidFill>
                  <a:srgbClr val="296F29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100" b="1" dirty="0">
              <a:solidFill>
                <a:srgbClr val="296F2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B29ECB5-2D74-087B-2120-6C18F6146DE9}"/>
              </a:ext>
            </a:extLst>
          </p:cNvPr>
          <p:cNvSpPr txBox="1"/>
          <p:nvPr/>
        </p:nvSpPr>
        <p:spPr>
          <a:xfrm>
            <a:off x="3568700" y="2337617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 dirty="0">
                <a:solidFill>
                  <a:srgbClr val="296F29"/>
                </a:solidFill>
                <a:latin typeface="Microsoft YaHei" panose="020B0503020204020204" pitchFamily="34" charset="-122"/>
              </a:rPr>
              <a:t>统一管理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3E3D93-808C-162C-1E94-DC63B7190057}"/>
              </a:ext>
            </a:extLst>
          </p:cNvPr>
          <p:cNvSpPr txBox="1"/>
          <p:nvPr/>
        </p:nvSpPr>
        <p:spPr>
          <a:xfrm>
            <a:off x="3175000" y="2792993"/>
            <a:ext cx="1828800" cy="65094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用户与机构管理</a:t>
            </a: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物资与业务记录</a:t>
            </a: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公告、统计、日志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8E0B9C8-E8BB-DE53-5442-343F1A4E9486}"/>
              </a:ext>
            </a:extLst>
          </p:cNvPr>
          <p:cNvSpPr/>
          <p:nvPr/>
        </p:nvSpPr>
        <p:spPr>
          <a:xfrm>
            <a:off x="5181600" y="2065124"/>
            <a:ext cx="1816100" cy="17302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C673161-2D46-8B16-7A24-5C7EFCD3398E}"/>
              </a:ext>
            </a:extLst>
          </p:cNvPr>
          <p:cNvSpPr/>
          <p:nvPr/>
        </p:nvSpPr>
        <p:spPr>
          <a:xfrm>
            <a:off x="5397500" y="2276262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791E25-322E-2A6A-4D9C-789317CE876A}"/>
              </a:ext>
            </a:extLst>
          </p:cNvPr>
          <p:cNvSpPr txBox="1"/>
          <p:nvPr/>
        </p:nvSpPr>
        <p:spPr>
          <a:xfrm>
            <a:off x="5410200" y="2344524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100" b="1">
              <a:solidFill>
                <a:srgbClr val="296F2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A6DF319-D6D5-C9DC-190D-3EAA8790AF5B}"/>
              </a:ext>
            </a:extLst>
          </p:cNvPr>
          <p:cNvSpPr txBox="1"/>
          <p:nvPr/>
        </p:nvSpPr>
        <p:spPr>
          <a:xfrm>
            <a:off x="5892800" y="2331824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96F29"/>
                </a:solidFill>
                <a:latin typeface="Microsoft YaHei" panose="020B0503020204020204" pitchFamily="34" charset="-122"/>
              </a:rPr>
              <a:t>全程追溯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C7F58D-A93F-5688-AA06-5B881A7F642C}"/>
              </a:ext>
            </a:extLst>
          </p:cNvPr>
          <p:cNvSpPr txBox="1"/>
          <p:nvPr/>
        </p:nvSpPr>
        <p:spPr>
          <a:xfrm>
            <a:off x="5461000" y="2801724"/>
            <a:ext cx="1828800" cy="65094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按捐赠编号查询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查看流转节点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发现异常记录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D76ABD-709C-28B6-8199-C38631A64768}"/>
              </a:ext>
            </a:extLst>
          </p:cNvPr>
          <p:cNvSpPr txBox="1"/>
          <p:nvPr/>
        </p:nvSpPr>
        <p:spPr>
          <a:xfrm>
            <a:off x="965200" y="4267200"/>
            <a:ext cx="5842794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600" b="1">
                <a:solidFill>
                  <a:srgbClr val="296F29"/>
                </a:solidFill>
                <a:latin typeface="Microsoft YaHei" panose="020B0503020204020204" pitchFamily="34" charset="-122"/>
              </a:rPr>
              <a:t>核心价值：让公益物资从“捐出去”到“用起来”都有记录可查。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46EC798-00E8-E945-51B9-4BC06CC0426F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502E58E6-B698-C81A-6546-AF71332B5586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539C5C9-21E1-CFD1-3DC7-C1DFB2C21055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757F82BF-7F76-11EB-2223-0AC3201AB6F6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AFC484C-80D4-CE48-B678-62D0B118FE97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>
                <a:solidFill>
                  <a:srgbClr val="6D5770"/>
                </a:solidFill>
                <a:latin typeface="Microsoft YaHei" panose="020B0503020204020204" pitchFamily="34" charset="-122"/>
              </a:rPr>
              <a:t>3</a:t>
            </a:r>
            <a:endParaRPr lang="zh-CN" altLang="en-US" sz="80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1233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FC670D3-561B-2429-178E-2BBCF223A405}"/>
              </a:ext>
            </a:extLst>
          </p:cNvPr>
          <p:cNvSpPr/>
          <p:nvPr/>
        </p:nvSpPr>
        <p:spPr>
          <a:xfrm>
            <a:off x="0" y="0"/>
            <a:ext cx="228600" cy="54864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AB4C3A0-C97C-14A5-0FC0-7E6C66982A46}"/>
              </a:ext>
            </a:extLst>
          </p:cNvPr>
          <p:cNvSpPr/>
          <p:nvPr/>
        </p:nvSpPr>
        <p:spPr>
          <a:xfrm>
            <a:off x="5473700" y="-939800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4A8C544-DF96-B5A4-8532-1EE2B5031CA0}"/>
              </a:ext>
            </a:extLst>
          </p:cNvPr>
          <p:cNvSpPr txBox="1"/>
          <p:nvPr/>
        </p:nvSpPr>
        <p:spPr>
          <a:xfrm>
            <a:off x="660400" y="431800"/>
            <a:ext cx="787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2C532E"/>
                </a:solidFill>
                <a:latin typeface="Microsoft YaHei" panose="020B0503020204020204" pitchFamily="34" charset="-122"/>
              </a:rPr>
              <a:t>系统技术栈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77790C-56FA-36D2-558B-A3849623AB0E}"/>
              </a:ext>
            </a:extLst>
          </p:cNvPr>
          <p:cNvSpPr/>
          <p:nvPr/>
        </p:nvSpPr>
        <p:spPr>
          <a:xfrm>
            <a:off x="660400" y="990600"/>
            <a:ext cx="9398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9FA7B54-85BD-09F8-BC6C-093AE66316B9}"/>
              </a:ext>
            </a:extLst>
          </p:cNvPr>
          <p:cNvSpPr/>
          <p:nvPr/>
        </p:nvSpPr>
        <p:spPr>
          <a:xfrm>
            <a:off x="660400" y="1640142"/>
            <a:ext cx="1918494" cy="19121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4FC1B68-112B-F031-F853-0C898BCCA907}"/>
              </a:ext>
            </a:extLst>
          </p:cNvPr>
          <p:cNvSpPr/>
          <p:nvPr/>
        </p:nvSpPr>
        <p:spPr>
          <a:xfrm>
            <a:off x="889000" y="1868742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08F58A-40FE-5A15-F04A-AAA1BF6DC2E3}"/>
              </a:ext>
            </a:extLst>
          </p:cNvPr>
          <p:cNvSpPr txBox="1"/>
          <p:nvPr/>
        </p:nvSpPr>
        <p:spPr>
          <a:xfrm>
            <a:off x="889000" y="1919542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FE</a:t>
            </a:r>
            <a:endParaRPr lang="zh-CN" altLang="en-US" sz="1100" b="1">
              <a:solidFill>
                <a:srgbClr val="296F2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414553-7762-3BE7-2424-C49DF476409F}"/>
              </a:ext>
            </a:extLst>
          </p:cNvPr>
          <p:cNvSpPr txBox="1"/>
          <p:nvPr/>
        </p:nvSpPr>
        <p:spPr>
          <a:xfrm>
            <a:off x="1371600" y="1906842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96F29"/>
                </a:solidFill>
                <a:latin typeface="Microsoft YaHei" panose="020B0503020204020204" pitchFamily="34" charset="-122"/>
              </a:rPr>
              <a:t>前端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192E8A-7FB4-7752-8C4F-F8BE94D99199}"/>
              </a:ext>
            </a:extLst>
          </p:cNvPr>
          <p:cNvSpPr txBox="1"/>
          <p:nvPr/>
        </p:nvSpPr>
        <p:spPr>
          <a:xfrm>
            <a:off x="939800" y="2376742"/>
            <a:ext cx="1828800" cy="65094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fr-FR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Vue.js</a:t>
            </a:r>
          </a:p>
          <a:p>
            <a:pPr>
              <a:spcAft>
                <a:spcPts val="800"/>
              </a:spcAft>
            </a:pPr>
            <a:r>
              <a:rPr lang="fr-FR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Element UI</a:t>
            </a:r>
          </a:p>
          <a:p>
            <a:pPr>
              <a:spcAft>
                <a:spcPts val="800"/>
              </a:spcAft>
            </a:pPr>
            <a:r>
              <a:rPr lang="fr-FR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Vue Router</a:t>
            </a:r>
            <a:endParaRPr lang="zh-CN" altLang="en-US" sz="1200" dirty="0">
              <a:solidFill>
                <a:srgbClr val="2C532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82DCE30-B546-9E5C-F6AF-0A5728CC1BD5}"/>
              </a:ext>
            </a:extLst>
          </p:cNvPr>
          <p:cNvSpPr/>
          <p:nvPr/>
        </p:nvSpPr>
        <p:spPr>
          <a:xfrm>
            <a:off x="3095625" y="1636581"/>
            <a:ext cx="1739900" cy="19121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CF3BC4E-2767-12F2-E957-FEECC4CFEFE4}"/>
              </a:ext>
            </a:extLst>
          </p:cNvPr>
          <p:cNvSpPr/>
          <p:nvPr/>
        </p:nvSpPr>
        <p:spPr>
          <a:xfrm>
            <a:off x="3355975" y="1829601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56E470-FA42-7E1F-25DE-6D5204BAD2E7}"/>
              </a:ext>
            </a:extLst>
          </p:cNvPr>
          <p:cNvSpPr txBox="1"/>
          <p:nvPr/>
        </p:nvSpPr>
        <p:spPr>
          <a:xfrm>
            <a:off x="3324225" y="1915981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BE</a:t>
            </a:r>
            <a:endParaRPr lang="zh-CN" altLang="en-US" sz="1100" b="1">
              <a:solidFill>
                <a:srgbClr val="296F2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C84E92F-A5D1-E8E8-E8BB-F65CC54E7B9C}"/>
              </a:ext>
            </a:extLst>
          </p:cNvPr>
          <p:cNvSpPr txBox="1"/>
          <p:nvPr/>
        </p:nvSpPr>
        <p:spPr>
          <a:xfrm>
            <a:off x="3806825" y="1903281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 dirty="0">
                <a:solidFill>
                  <a:srgbClr val="296F29"/>
                </a:solidFill>
                <a:latin typeface="Microsoft YaHei" panose="020B0503020204020204" pitchFamily="34" charset="-122"/>
              </a:rPr>
              <a:t>后端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72A95C-06C4-55E1-7D31-32FDAD5D07AF}"/>
              </a:ext>
            </a:extLst>
          </p:cNvPr>
          <p:cNvSpPr txBox="1"/>
          <p:nvPr/>
        </p:nvSpPr>
        <p:spPr>
          <a:xfrm>
            <a:off x="3375025" y="2373181"/>
            <a:ext cx="1828800" cy="65094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Java 8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Spring Boot 2.2.2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Spring MVC</a:t>
            </a:r>
            <a:endParaRPr lang="zh-CN" altLang="en-US" sz="1200">
              <a:solidFill>
                <a:srgbClr val="2C532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BA2A1B8-DBA0-5E42-0CAB-765D067230D4}"/>
              </a:ext>
            </a:extLst>
          </p:cNvPr>
          <p:cNvSpPr/>
          <p:nvPr/>
        </p:nvSpPr>
        <p:spPr>
          <a:xfrm>
            <a:off x="5473699" y="1617532"/>
            <a:ext cx="1655763" cy="19121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00FD312-2689-BB39-7600-03FD96B62A6F}"/>
              </a:ext>
            </a:extLst>
          </p:cNvPr>
          <p:cNvSpPr/>
          <p:nvPr/>
        </p:nvSpPr>
        <p:spPr>
          <a:xfrm>
            <a:off x="5702300" y="1833421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1D0A7E6-558F-791A-AF25-37276B3D01EB}"/>
              </a:ext>
            </a:extLst>
          </p:cNvPr>
          <p:cNvSpPr txBox="1"/>
          <p:nvPr/>
        </p:nvSpPr>
        <p:spPr>
          <a:xfrm>
            <a:off x="5702300" y="1896932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DB</a:t>
            </a:r>
            <a:endParaRPr lang="zh-CN" altLang="en-US" sz="1100" b="1">
              <a:solidFill>
                <a:srgbClr val="296F2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FC568CB-1E7F-6A50-1578-CB80853B552C}"/>
              </a:ext>
            </a:extLst>
          </p:cNvPr>
          <p:cNvSpPr txBox="1"/>
          <p:nvPr/>
        </p:nvSpPr>
        <p:spPr>
          <a:xfrm>
            <a:off x="6184900" y="1884232"/>
            <a:ext cx="698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 dirty="0">
                <a:solidFill>
                  <a:srgbClr val="296F29"/>
                </a:solidFill>
                <a:latin typeface="Microsoft YaHei" panose="020B0503020204020204" pitchFamily="34" charset="-122"/>
              </a:rPr>
              <a:t>数据层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9DD7928-DD38-F242-CB07-FEEE82A09AE0}"/>
              </a:ext>
            </a:extLst>
          </p:cNvPr>
          <p:cNvSpPr txBox="1"/>
          <p:nvPr/>
        </p:nvSpPr>
        <p:spPr>
          <a:xfrm>
            <a:off x="5753100" y="2354132"/>
            <a:ext cx="1433513" cy="8052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fr-FR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MySQL</a:t>
            </a:r>
          </a:p>
          <a:p>
            <a:pPr>
              <a:spcAft>
                <a:spcPts val="800"/>
              </a:spcAft>
            </a:pPr>
            <a:r>
              <a:rPr lang="fr-FR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MyBatis</a:t>
            </a:r>
          </a:p>
          <a:p>
            <a:pPr>
              <a:spcAft>
                <a:spcPts val="800"/>
              </a:spcAft>
            </a:pPr>
            <a:r>
              <a:rPr lang="fr-FR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MyBatis-Plus 2.x</a:t>
            </a:r>
            <a:endParaRPr lang="zh-CN" altLang="en-US" sz="1200" dirty="0">
              <a:solidFill>
                <a:srgbClr val="2C532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9288048-0D3B-8231-15DC-134C263D9DA5}"/>
              </a:ext>
            </a:extLst>
          </p:cNvPr>
          <p:cNvSpPr/>
          <p:nvPr/>
        </p:nvSpPr>
        <p:spPr>
          <a:xfrm>
            <a:off x="889000" y="3765684"/>
            <a:ext cx="5994400" cy="685800"/>
          </a:xfrm>
          <a:prstGeom prst="roundRect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CBAF057-31BA-5622-A765-3B848EC8F02E}"/>
              </a:ext>
            </a:extLst>
          </p:cNvPr>
          <p:cNvSpPr txBox="1"/>
          <p:nvPr/>
        </p:nvSpPr>
        <p:spPr>
          <a:xfrm>
            <a:off x="1216419" y="3880600"/>
            <a:ext cx="5498312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400" dirty="0">
                <a:solidFill>
                  <a:srgbClr val="296F29"/>
                </a:solidFill>
                <a:latin typeface="Microsoft YaHei" panose="020B0503020204020204" pitchFamily="34" charset="-122"/>
              </a:rPr>
              <a:t>辅助能力：</a:t>
            </a:r>
            <a:r>
              <a:rPr lang="en-US" altLang="zh-CN" sz="1400" dirty="0">
                <a:solidFill>
                  <a:srgbClr val="296F29"/>
                </a:solidFill>
                <a:latin typeface="Microsoft YaHei" panose="020B0503020204020204" pitchFamily="34" charset="-122"/>
              </a:rPr>
              <a:t>Token</a:t>
            </a:r>
            <a:r>
              <a:rPr lang="zh-CN" altLang="en-US" sz="1400" dirty="0">
                <a:solidFill>
                  <a:srgbClr val="296F29"/>
                </a:solidFill>
                <a:latin typeface="Microsoft YaHei" panose="020B0503020204020204" pitchFamily="34" charset="-122"/>
              </a:rPr>
              <a:t>登录认证、文件上传、</a:t>
            </a:r>
            <a:r>
              <a:rPr lang="en-US" altLang="zh-CN" sz="1400" dirty="0" err="1">
                <a:solidFill>
                  <a:srgbClr val="296F29"/>
                </a:solidFill>
                <a:latin typeface="Microsoft YaHei" panose="020B0503020204020204" pitchFamily="34" charset="-122"/>
              </a:rPr>
              <a:t>ECharts</a:t>
            </a:r>
            <a:r>
              <a:rPr lang="zh-CN" altLang="en-US" sz="1400" dirty="0">
                <a:solidFill>
                  <a:srgbClr val="296F29"/>
                </a:solidFill>
                <a:latin typeface="Microsoft YaHei" panose="020B0503020204020204" pitchFamily="34" charset="-122"/>
              </a:rPr>
              <a:t>统计、系统日志、</a:t>
            </a:r>
            <a:r>
              <a:rPr lang="en-US" altLang="zh-CN" sz="1400" dirty="0">
                <a:solidFill>
                  <a:srgbClr val="296F29"/>
                </a:solidFill>
                <a:latin typeface="Microsoft YaHei" panose="020B0503020204020204" pitchFamily="34" charset="-122"/>
              </a:rPr>
              <a:t>DeepSeek</a:t>
            </a:r>
            <a:r>
              <a:rPr lang="zh-CN" altLang="en-US" sz="1400" dirty="0">
                <a:solidFill>
                  <a:srgbClr val="296F29"/>
                </a:solidFill>
                <a:latin typeface="Microsoft YaHei" panose="020B0503020204020204" pitchFamily="34" charset="-122"/>
              </a:rPr>
              <a:t>接口与推荐服务。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CA6D705-7B9B-B825-E89B-B62B5D8C9472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6C9B8853-A9F3-C207-61B4-4CAA9D8A09CE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BBACCCB-EF24-B3B2-EA40-36D4E1C05AA4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EBA66F1-B134-2E55-433F-F13D99543DE1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88BCA4C-8D5A-C529-8BFE-DCB109E743A3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>
                <a:solidFill>
                  <a:srgbClr val="6D5770"/>
                </a:solidFill>
                <a:latin typeface="Microsoft YaHei" panose="020B0503020204020204" pitchFamily="34" charset="-122"/>
              </a:rPr>
              <a:t>4</a:t>
            </a:r>
            <a:endParaRPr lang="zh-CN" altLang="en-US" sz="80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0378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FA580B3-A572-7CC1-AE29-8E3A0B166816}"/>
              </a:ext>
            </a:extLst>
          </p:cNvPr>
          <p:cNvSpPr/>
          <p:nvPr/>
        </p:nvSpPr>
        <p:spPr>
          <a:xfrm>
            <a:off x="0" y="0"/>
            <a:ext cx="228600" cy="54864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912E212-C5B2-7DD0-3C15-C787C9FB9810}"/>
              </a:ext>
            </a:extLst>
          </p:cNvPr>
          <p:cNvSpPr/>
          <p:nvPr/>
        </p:nvSpPr>
        <p:spPr>
          <a:xfrm>
            <a:off x="5473700" y="-939800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E6682C-E44C-ECF4-FFD8-6121DB565B84}"/>
              </a:ext>
            </a:extLst>
          </p:cNvPr>
          <p:cNvSpPr txBox="1"/>
          <p:nvPr/>
        </p:nvSpPr>
        <p:spPr>
          <a:xfrm>
            <a:off x="660400" y="431800"/>
            <a:ext cx="787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2C532E"/>
                </a:solidFill>
                <a:latin typeface="Microsoft YaHei" panose="020B0503020204020204" pitchFamily="34" charset="-122"/>
              </a:rPr>
              <a:t>系统架构图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C8D1E52-BADA-259F-0B49-2B13C58786DC}"/>
              </a:ext>
            </a:extLst>
          </p:cNvPr>
          <p:cNvSpPr/>
          <p:nvPr/>
        </p:nvSpPr>
        <p:spPr>
          <a:xfrm>
            <a:off x="660400" y="990600"/>
            <a:ext cx="9398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2C28A7-603F-78C4-073F-FB235EF463AD}"/>
              </a:ext>
            </a:extLst>
          </p:cNvPr>
          <p:cNvSpPr txBox="1"/>
          <p:nvPr/>
        </p:nvSpPr>
        <p:spPr>
          <a:xfrm>
            <a:off x="1778000" y="914400"/>
            <a:ext cx="635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6D5770"/>
                </a:solidFill>
                <a:latin typeface="Microsoft YaHei" panose="020B0503020204020204" pitchFamily="34" charset="-122"/>
              </a:rPr>
              <a:t>前后端分离 </a:t>
            </a:r>
            <a:r>
              <a:rPr lang="en-US" altLang="zh-CN" sz="1000">
                <a:solidFill>
                  <a:srgbClr val="6D5770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000">
                <a:solidFill>
                  <a:srgbClr val="6D5770"/>
                </a:solidFill>
                <a:latin typeface="Microsoft YaHei" panose="020B0503020204020204" pitchFamily="34" charset="-122"/>
              </a:rPr>
              <a:t>分层数据访问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53F8AC51-5DA9-45FC-83B5-EA45DC317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30" y="1726257"/>
            <a:ext cx="3507270" cy="2674293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AB600B1C-15BB-399C-3B14-AAFF80A847FF}"/>
              </a:ext>
            </a:extLst>
          </p:cNvPr>
          <p:cNvSpPr txBox="1"/>
          <p:nvPr/>
        </p:nvSpPr>
        <p:spPr>
          <a:xfrm>
            <a:off x="4246321" y="1844526"/>
            <a:ext cx="2454757" cy="2512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系统分层说明</a:t>
            </a: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用户通过前端页面完成捐赠登记、物资申领、接收确认和反馈提交等操作。</a:t>
            </a: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前端将操作请求提交给后端，后端完成业务校验、审核处理、库存变更和追溯查询。</a:t>
            </a: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数据库保存物资流转过程中的核心数据，为后续查询和统计提供支撑。</a:t>
            </a:r>
          </a:p>
        </p:txBody>
      </p:sp>
    </p:spTree>
    <p:extLst>
      <p:ext uri="{BB962C8B-B14F-4D97-AF65-F5344CB8AC3E}">
        <p14:creationId xmlns:p14="http://schemas.microsoft.com/office/powerpoint/2010/main" val="810354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DCC65A-CEB2-7C2A-E359-864D8F1E4959}"/>
              </a:ext>
            </a:extLst>
          </p:cNvPr>
          <p:cNvSpPr/>
          <p:nvPr/>
        </p:nvSpPr>
        <p:spPr>
          <a:xfrm>
            <a:off x="0" y="0"/>
            <a:ext cx="228600" cy="54864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A0B3052-D282-CE9C-C4C6-B82002828B3B}"/>
              </a:ext>
            </a:extLst>
          </p:cNvPr>
          <p:cNvSpPr/>
          <p:nvPr/>
        </p:nvSpPr>
        <p:spPr>
          <a:xfrm>
            <a:off x="5473700" y="-939800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CE47EF-F11D-5CCB-94C4-F560638172CD}"/>
              </a:ext>
            </a:extLst>
          </p:cNvPr>
          <p:cNvSpPr txBox="1"/>
          <p:nvPr/>
        </p:nvSpPr>
        <p:spPr>
          <a:xfrm>
            <a:off x="660400" y="431800"/>
            <a:ext cx="787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2C532E"/>
                </a:solidFill>
                <a:latin typeface="Microsoft YaHei" panose="020B0503020204020204" pitchFamily="34" charset="-122"/>
              </a:rPr>
              <a:t>核心业务模块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15DD5C-C290-702A-B98C-F8741F1416E1}"/>
              </a:ext>
            </a:extLst>
          </p:cNvPr>
          <p:cNvSpPr/>
          <p:nvPr/>
        </p:nvSpPr>
        <p:spPr>
          <a:xfrm>
            <a:off x="660400" y="990600"/>
            <a:ext cx="9398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9288B2E-2BE2-0103-3A91-9F69C65DE6B3}"/>
              </a:ext>
            </a:extLst>
          </p:cNvPr>
          <p:cNvSpPr/>
          <p:nvPr/>
        </p:nvSpPr>
        <p:spPr>
          <a:xfrm>
            <a:off x="660400" y="1725856"/>
            <a:ext cx="1925638" cy="21745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4797567-2285-2A0B-10B6-A475141F6C8F}"/>
              </a:ext>
            </a:extLst>
          </p:cNvPr>
          <p:cNvSpPr/>
          <p:nvPr/>
        </p:nvSpPr>
        <p:spPr>
          <a:xfrm>
            <a:off x="889000" y="1954457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E282CF-BEC9-972D-2AC1-D53681B04388}"/>
              </a:ext>
            </a:extLst>
          </p:cNvPr>
          <p:cNvSpPr txBox="1"/>
          <p:nvPr/>
        </p:nvSpPr>
        <p:spPr>
          <a:xfrm>
            <a:off x="889000" y="2005257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437D7A-0B22-EE9A-B22F-78826BFA3B8D}"/>
              </a:ext>
            </a:extLst>
          </p:cNvPr>
          <p:cNvSpPr txBox="1"/>
          <p:nvPr/>
        </p:nvSpPr>
        <p:spPr>
          <a:xfrm>
            <a:off x="1371600" y="1992557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96F29"/>
                </a:solidFill>
                <a:latin typeface="Microsoft YaHei" panose="020B0503020204020204" pitchFamily="34" charset="-122"/>
              </a:rPr>
              <a:t>捐赠人端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4964FE-02FD-D6A3-10A5-52ADD615EC7C}"/>
              </a:ext>
            </a:extLst>
          </p:cNvPr>
          <p:cNvSpPr txBox="1"/>
          <p:nvPr/>
        </p:nvSpPr>
        <p:spPr>
          <a:xfrm>
            <a:off x="939800" y="2462457"/>
            <a:ext cx="1828800" cy="8371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注册登录</a:t>
            </a: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物资捐赠</a:t>
            </a: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捐赠记录 </a:t>
            </a: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证书</a:t>
            </a: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追溯查询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08B2F6F-0405-7AE4-AC50-05480E73F013}"/>
              </a:ext>
            </a:extLst>
          </p:cNvPr>
          <p:cNvSpPr/>
          <p:nvPr/>
        </p:nvSpPr>
        <p:spPr>
          <a:xfrm>
            <a:off x="2946400" y="1690588"/>
            <a:ext cx="1879600" cy="22098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AB19347-78D5-25B6-A64C-5389170AB3F8}"/>
              </a:ext>
            </a:extLst>
          </p:cNvPr>
          <p:cNvSpPr/>
          <p:nvPr/>
        </p:nvSpPr>
        <p:spPr>
          <a:xfrm>
            <a:off x="3169444" y="1884508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E48391-3A59-22E8-7288-E08E0F161BE1}"/>
              </a:ext>
            </a:extLst>
          </p:cNvPr>
          <p:cNvSpPr txBox="1"/>
          <p:nvPr/>
        </p:nvSpPr>
        <p:spPr>
          <a:xfrm>
            <a:off x="3175000" y="1969989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865FCA7-B77C-CD9B-EAE1-93AF7F0337AC}"/>
              </a:ext>
            </a:extLst>
          </p:cNvPr>
          <p:cNvSpPr txBox="1"/>
          <p:nvPr/>
        </p:nvSpPr>
        <p:spPr>
          <a:xfrm>
            <a:off x="3587750" y="1939211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 dirty="0">
                <a:solidFill>
                  <a:srgbClr val="296F29"/>
                </a:solidFill>
                <a:latin typeface="Microsoft YaHei" panose="020B0503020204020204" pitchFamily="34" charset="-122"/>
              </a:rPr>
              <a:t>接收机构端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6F03BC-1FEC-49EA-7C2B-F8890A168583}"/>
              </a:ext>
            </a:extLst>
          </p:cNvPr>
          <p:cNvSpPr txBox="1"/>
          <p:nvPr/>
        </p:nvSpPr>
        <p:spPr>
          <a:xfrm>
            <a:off x="3225800" y="2427189"/>
            <a:ext cx="1828800" cy="8371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物资申领</a:t>
            </a: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接收确认</a:t>
            </a: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使用反馈</a:t>
            </a: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异议反馈 </a:t>
            </a: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推荐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94F5188-AD2E-08F3-E93A-DAF30798E659}"/>
              </a:ext>
            </a:extLst>
          </p:cNvPr>
          <p:cNvSpPr/>
          <p:nvPr/>
        </p:nvSpPr>
        <p:spPr>
          <a:xfrm>
            <a:off x="5219700" y="1690589"/>
            <a:ext cx="1828800" cy="22098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0CBC18C-C0BF-3D11-1B09-47C69699BA20}"/>
              </a:ext>
            </a:extLst>
          </p:cNvPr>
          <p:cNvSpPr/>
          <p:nvPr/>
        </p:nvSpPr>
        <p:spPr>
          <a:xfrm>
            <a:off x="5483225" y="1865702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82F2AD-F86C-E34D-B4A6-BC3F6F2FEF04}"/>
              </a:ext>
            </a:extLst>
          </p:cNvPr>
          <p:cNvSpPr txBox="1"/>
          <p:nvPr/>
        </p:nvSpPr>
        <p:spPr>
          <a:xfrm>
            <a:off x="5448300" y="1969989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管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EA38419-6BA5-8B30-BDD7-8C56A7221A54}"/>
              </a:ext>
            </a:extLst>
          </p:cNvPr>
          <p:cNvSpPr txBox="1"/>
          <p:nvPr/>
        </p:nvSpPr>
        <p:spPr>
          <a:xfrm>
            <a:off x="5905500" y="1937824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 dirty="0">
                <a:solidFill>
                  <a:srgbClr val="296F29"/>
                </a:solidFill>
                <a:latin typeface="Microsoft YaHei" panose="020B0503020204020204" pitchFamily="34" charset="-122"/>
              </a:rPr>
              <a:t>管理员端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B2A7056-DFBC-AD8F-2C75-322D73193A19}"/>
              </a:ext>
            </a:extLst>
          </p:cNvPr>
          <p:cNvSpPr txBox="1"/>
          <p:nvPr/>
        </p:nvSpPr>
        <p:spPr>
          <a:xfrm>
            <a:off x="5499100" y="2427189"/>
            <a:ext cx="1828800" cy="8371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用户与机构审核</a:t>
            </a: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物资验收</a:t>
            </a:r>
            <a:endParaRPr lang="en-US" altLang="zh-CN" sz="1200" dirty="0">
              <a:solidFill>
                <a:srgbClr val="2C532E"/>
              </a:solidFill>
              <a:latin typeface="Microsoft YaHei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物资申请审核</a:t>
            </a: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出库分拨</a:t>
            </a: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公告统计 </a:t>
            </a:r>
            <a:r>
              <a:rPr lang="en-US" altLang="zh-CN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dirty="0">
                <a:solidFill>
                  <a:srgbClr val="2C532E"/>
                </a:solidFill>
                <a:latin typeface="Microsoft YaHei" panose="020B0503020204020204" pitchFamily="34" charset="-122"/>
              </a:rPr>
              <a:t>日志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73F689-9FC5-A16D-5016-749BBA618ABB}"/>
              </a:ext>
            </a:extLst>
          </p:cNvPr>
          <p:cNvSpPr txBox="1"/>
          <p:nvPr/>
        </p:nvSpPr>
        <p:spPr>
          <a:xfrm>
            <a:off x="1143000" y="4403019"/>
            <a:ext cx="5486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500" b="1" dirty="0">
                <a:solidFill>
                  <a:srgbClr val="296F29"/>
                </a:solidFill>
                <a:latin typeface="Microsoft YaHei" panose="020B0503020204020204" pitchFamily="34" charset="-122"/>
              </a:rPr>
              <a:t>重点模块：追溯查询把各业务记录串联成“物资生命流程”。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5ACACBD-63A9-05CA-1F08-5A0ED1225177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E384BBCF-ADC8-4647-CBA9-870A89B40DCC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4F7EE7B7-7FFA-D36D-727F-555B115FB906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103C318D-322D-DD5B-485D-8B768ED6E57B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56377F-DDC9-85C7-CC2D-C46DF4B68690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>
                <a:solidFill>
                  <a:srgbClr val="6D5770"/>
                </a:solidFill>
                <a:latin typeface="Microsoft YaHei" panose="020B0503020204020204" pitchFamily="34" charset="-122"/>
              </a:rPr>
              <a:t>6</a:t>
            </a:r>
            <a:endParaRPr lang="zh-CN" altLang="en-US" sz="80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5719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3307E8D-E044-12B4-06C8-1350F6ADC43F}"/>
              </a:ext>
            </a:extLst>
          </p:cNvPr>
          <p:cNvSpPr/>
          <p:nvPr/>
        </p:nvSpPr>
        <p:spPr>
          <a:xfrm>
            <a:off x="0" y="0"/>
            <a:ext cx="228600" cy="54864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EC5B2D5-9583-6AAF-1697-F22182EE47FB}"/>
              </a:ext>
            </a:extLst>
          </p:cNvPr>
          <p:cNvSpPr/>
          <p:nvPr/>
        </p:nvSpPr>
        <p:spPr>
          <a:xfrm>
            <a:off x="5473700" y="-939800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B398B2-8FE7-853E-631E-05014BD8BABB}"/>
              </a:ext>
            </a:extLst>
          </p:cNvPr>
          <p:cNvSpPr txBox="1"/>
          <p:nvPr/>
        </p:nvSpPr>
        <p:spPr>
          <a:xfrm>
            <a:off x="660400" y="431800"/>
            <a:ext cx="787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2C532E"/>
                </a:solidFill>
                <a:latin typeface="Microsoft YaHei" panose="020B0503020204020204" pitchFamily="34" charset="-122"/>
              </a:rPr>
              <a:t>追溯查询功能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961051-8B58-0644-09E3-3D4C8B06A610}"/>
              </a:ext>
            </a:extLst>
          </p:cNvPr>
          <p:cNvSpPr/>
          <p:nvPr/>
        </p:nvSpPr>
        <p:spPr>
          <a:xfrm>
            <a:off x="660400" y="990600"/>
            <a:ext cx="9398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1B38FB-698F-D542-681B-7599C6113D4D}"/>
              </a:ext>
            </a:extLst>
          </p:cNvPr>
          <p:cNvSpPr txBox="1"/>
          <p:nvPr/>
        </p:nvSpPr>
        <p:spPr>
          <a:xfrm>
            <a:off x="1778000" y="914400"/>
            <a:ext cx="635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6D5770"/>
                </a:solidFill>
                <a:latin typeface="Microsoft YaHei" panose="020B0503020204020204" pitchFamily="34" charset="-122"/>
              </a:rPr>
              <a:t>按捐赠编号串联全流程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34D4D54-A55C-142D-5EF8-DA5B26AB7CEE}"/>
              </a:ext>
            </a:extLst>
          </p:cNvPr>
          <p:cNvSpPr/>
          <p:nvPr/>
        </p:nvSpPr>
        <p:spPr>
          <a:xfrm>
            <a:off x="660400" y="1676400"/>
            <a:ext cx="1346200" cy="5333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166F03E-5B46-6283-0925-73909FA92C6F}"/>
              </a:ext>
            </a:extLst>
          </p:cNvPr>
          <p:cNvSpPr/>
          <p:nvPr/>
        </p:nvSpPr>
        <p:spPr>
          <a:xfrm>
            <a:off x="812800" y="1841500"/>
            <a:ext cx="381000" cy="279400"/>
          </a:xfrm>
          <a:prstGeom prst="round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813B60C-AD17-07DA-D2D8-AA67E76ABC0E}"/>
              </a:ext>
            </a:extLst>
          </p:cNvPr>
          <p:cNvSpPr txBox="1"/>
          <p:nvPr/>
        </p:nvSpPr>
        <p:spPr>
          <a:xfrm>
            <a:off x="812800" y="1892300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7E951B-8DEE-38A6-546A-292E4FEC203D}"/>
              </a:ext>
            </a:extLst>
          </p:cNvPr>
          <p:cNvSpPr txBox="1"/>
          <p:nvPr/>
        </p:nvSpPr>
        <p:spPr>
          <a:xfrm>
            <a:off x="1244600" y="1871821"/>
            <a:ext cx="673100" cy="33653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 dirty="0">
                <a:solidFill>
                  <a:srgbClr val="2C532E"/>
                </a:solidFill>
                <a:latin typeface="Microsoft YaHei" panose="020B0503020204020204" pitchFamily="34" charset="-122"/>
              </a:rPr>
              <a:t>捐赠记录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F4A9043-DC4F-E9CE-4DC0-E79E30B14EC0}"/>
              </a:ext>
            </a:extLst>
          </p:cNvPr>
          <p:cNvCxnSpPr/>
          <p:nvPr/>
        </p:nvCxnSpPr>
        <p:spPr>
          <a:xfrm>
            <a:off x="2006600" y="1964323"/>
            <a:ext cx="381000" cy="0"/>
          </a:xfrm>
          <a:prstGeom prst="line">
            <a:avLst/>
          </a:prstGeom>
          <a:ln w="19050">
            <a:solidFill>
              <a:srgbClr val="387F3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BF1C256-02D6-999B-FAAE-CBB6234E8D30}"/>
              </a:ext>
            </a:extLst>
          </p:cNvPr>
          <p:cNvSpPr/>
          <p:nvPr/>
        </p:nvSpPr>
        <p:spPr>
          <a:xfrm>
            <a:off x="2374900" y="1696899"/>
            <a:ext cx="1282700" cy="53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DADB2B7-4731-7E03-A7B7-20486FF03983}"/>
              </a:ext>
            </a:extLst>
          </p:cNvPr>
          <p:cNvSpPr/>
          <p:nvPr/>
        </p:nvSpPr>
        <p:spPr>
          <a:xfrm>
            <a:off x="2520950" y="1831025"/>
            <a:ext cx="381000" cy="279400"/>
          </a:xfrm>
          <a:prstGeom prst="round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8E2B65-A6B0-68AC-6A4A-BC1957525BC9}"/>
              </a:ext>
            </a:extLst>
          </p:cNvPr>
          <p:cNvSpPr txBox="1"/>
          <p:nvPr/>
        </p:nvSpPr>
        <p:spPr>
          <a:xfrm>
            <a:off x="2527300" y="1912799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23E19A-4514-DAF9-AEE0-B96276B3BC39}"/>
              </a:ext>
            </a:extLst>
          </p:cNvPr>
          <p:cNvSpPr txBox="1"/>
          <p:nvPr/>
        </p:nvSpPr>
        <p:spPr>
          <a:xfrm>
            <a:off x="2984500" y="1891526"/>
            <a:ext cx="641350" cy="33562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 dirty="0">
                <a:solidFill>
                  <a:srgbClr val="2C532E"/>
                </a:solidFill>
                <a:latin typeface="Microsoft YaHei" panose="020B0503020204020204" pitchFamily="34" charset="-122"/>
              </a:rPr>
              <a:t>验收记录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784C527-85F0-C7B8-8652-622C348CADCC}"/>
              </a:ext>
            </a:extLst>
          </p:cNvPr>
          <p:cNvCxnSpPr/>
          <p:nvPr/>
        </p:nvCxnSpPr>
        <p:spPr>
          <a:xfrm>
            <a:off x="3657600" y="1987342"/>
            <a:ext cx="381000" cy="0"/>
          </a:xfrm>
          <a:prstGeom prst="line">
            <a:avLst/>
          </a:prstGeom>
          <a:ln w="19050">
            <a:solidFill>
              <a:srgbClr val="387F3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18F2206-24F4-BC60-1986-0361DF3C8C2C}"/>
              </a:ext>
            </a:extLst>
          </p:cNvPr>
          <p:cNvSpPr/>
          <p:nvPr/>
        </p:nvSpPr>
        <p:spPr>
          <a:xfrm>
            <a:off x="4038600" y="1720982"/>
            <a:ext cx="1320800" cy="530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CAA5D47-56B0-2CF4-F8F3-38DAD6360A8F}"/>
              </a:ext>
            </a:extLst>
          </p:cNvPr>
          <p:cNvSpPr/>
          <p:nvPr/>
        </p:nvSpPr>
        <p:spPr>
          <a:xfrm>
            <a:off x="4191000" y="1886082"/>
            <a:ext cx="381000" cy="279400"/>
          </a:xfrm>
          <a:prstGeom prst="round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D55E2D0-297B-AE61-80C9-66D2C020FFAA}"/>
              </a:ext>
            </a:extLst>
          </p:cNvPr>
          <p:cNvSpPr txBox="1"/>
          <p:nvPr/>
        </p:nvSpPr>
        <p:spPr>
          <a:xfrm>
            <a:off x="4191000" y="1936882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4BFE3D3-FD90-39F6-A5B4-9F65E7B982AB}"/>
              </a:ext>
            </a:extLst>
          </p:cNvPr>
          <p:cNvSpPr txBox="1"/>
          <p:nvPr/>
        </p:nvSpPr>
        <p:spPr>
          <a:xfrm>
            <a:off x="4641056" y="1915609"/>
            <a:ext cx="660400" cy="33455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 dirty="0">
                <a:solidFill>
                  <a:srgbClr val="2C532E"/>
                </a:solidFill>
                <a:latin typeface="Microsoft YaHei" panose="020B0503020204020204" pitchFamily="34" charset="-122"/>
              </a:rPr>
              <a:t>物资申领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739620E-92C0-C5D0-A6CA-3F21B23F6571}"/>
              </a:ext>
            </a:extLst>
          </p:cNvPr>
          <p:cNvCxnSpPr/>
          <p:nvPr/>
        </p:nvCxnSpPr>
        <p:spPr>
          <a:xfrm>
            <a:off x="5359400" y="2001629"/>
            <a:ext cx="381000" cy="0"/>
          </a:xfrm>
          <a:prstGeom prst="line">
            <a:avLst/>
          </a:prstGeom>
          <a:ln w="19050">
            <a:solidFill>
              <a:srgbClr val="387F3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1E5C31B-855B-2B17-DAA1-ACD9DA2FA54C}"/>
              </a:ext>
            </a:extLst>
          </p:cNvPr>
          <p:cNvSpPr/>
          <p:nvPr/>
        </p:nvSpPr>
        <p:spPr>
          <a:xfrm>
            <a:off x="5727705" y="1713840"/>
            <a:ext cx="1320790" cy="5206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E28D4A0-16EE-CF8E-62E4-A73B85E46030}"/>
              </a:ext>
            </a:extLst>
          </p:cNvPr>
          <p:cNvSpPr/>
          <p:nvPr/>
        </p:nvSpPr>
        <p:spPr>
          <a:xfrm>
            <a:off x="5880105" y="1836713"/>
            <a:ext cx="381000" cy="279400"/>
          </a:xfrm>
          <a:prstGeom prst="round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8765F47-B3B3-0EE7-2B55-56ACF0A51E58}"/>
              </a:ext>
            </a:extLst>
          </p:cNvPr>
          <p:cNvSpPr txBox="1"/>
          <p:nvPr/>
        </p:nvSpPr>
        <p:spPr>
          <a:xfrm>
            <a:off x="5880105" y="1887513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E415F61-B497-D5D3-39E9-1B3706CAC076}"/>
              </a:ext>
            </a:extLst>
          </p:cNvPr>
          <p:cNvSpPr txBox="1"/>
          <p:nvPr/>
        </p:nvSpPr>
        <p:spPr>
          <a:xfrm>
            <a:off x="6337305" y="1872266"/>
            <a:ext cx="660395" cy="32852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 dirty="0">
                <a:solidFill>
                  <a:srgbClr val="2C532E"/>
                </a:solidFill>
                <a:latin typeface="Microsoft YaHei" panose="020B0503020204020204" pitchFamily="34" charset="-122"/>
              </a:rPr>
              <a:t>出库分拨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744A781-C0AD-186A-1344-DBD55887C396}"/>
              </a:ext>
            </a:extLst>
          </p:cNvPr>
          <p:cNvCxnSpPr/>
          <p:nvPr/>
        </p:nvCxnSpPr>
        <p:spPr>
          <a:xfrm>
            <a:off x="6488112" y="2234539"/>
            <a:ext cx="0" cy="355600"/>
          </a:xfrm>
          <a:prstGeom prst="line">
            <a:avLst/>
          </a:prstGeom>
          <a:ln w="19050">
            <a:solidFill>
              <a:srgbClr val="387F3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571FB7D-2328-9D4F-C93A-FB62392BD86E}"/>
              </a:ext>
            </a:extLst>
          </p:cNvPr>
          <p:cNvSpPr/>
          <p:nvPr/>
        </p:nvSpPr>
        <p:spPr>
          <a:xfrm>
            <a:off x="5718974" y="2581996"/>
            <a:ext cx="1320790" cy="5454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154BF8E-A7FA-028D-0A19-C16478645565}"/>
              </a:ext>
            </a:extLst>
          </p:cNvPr>
          <p:cNvSpPr/>
          <p:nvPr/>
        </p:nvSpPr>
        <p:spPr>
          <a:xfrm>
            <a:off x="5871374" y="2747096"/>
            <a:ext cx="381000" cy="279400"/>
          </a:xfrm>
          <a:prstGeom prst="round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768F821-F19D-C5E0-620E-1A9A9C02924D}"/>
              </a:ext>
            </a:extLst>
          </p:cNvPr>
          <p:cNvSpPr txBox="1"/>
          <p:nvPr/>
        </p:nvSpPr>
        <p:spPr>
          <a:xfrm>
            <a:off x="5871374" y="2797896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5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34E9166-C619-F7BE-6AA5-9F00394B866A}"/>
              </a:ext>
            </a:extLst>
          </p:cNvPr>
          <p:cNvSpPr txBox="1"/>
          <p:nvPr/>
        </p:nvSpPr>
        <p:spPr>
          <a:xfrm>
            <a:off x="6315871" y="2778229"/>
            <a:ext cx="660395" cy="34413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 dirty="0">
                <a:solidFill>
                  <a:srgbClr val="2C532E"/>
                </a:solidFill>
                <a:latin typeface="Microsoft YaHei" panose="020B0503020204020204" pitchFamily="34" charset="-122"/>
              </a:rPr>
              <a:t>接收信息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91D9A3B9-A413-26C0-B9CF-36E13F5BB2D0}"/>
              </a:ext>
            </a:extLst>
          </p:cNvPr>
          <p:cNvCxnSpPr/>
          <p:nvPr/>
        </p:nvCxnSpPr>
        <p:spPr>
          <a:xfrm flipH="1">
            <a:off x="5330830" y="2865962"/>
            <a:ext cx="381000" cy="0"/>
          </a:xfrm>
          <a:prstGeom prst="line">
            <a:avLst/>
          </a:prstGeom>
          <a:ln w="19050">
            <a:solidFill>
              <a:srgbClr val="387F3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16A7623-03E3-0FC0-46C9-3E555CDAD8CC}"/>
              </a:ext>
            </a:extLst>
          </p:cNvPr>
          <p:cNvSpPr/>
          <p:nvPr/>
        </p:nvSpPr>
        <p:spPr>
          <a:xfrm>
            <a:off x="3984630" y="2557061"/>
            <a:ext cx="1346200" cy="6067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AFC9B63B-1A40-52FC-0B6E-D6B37D1E7162}"/>
              </a:ext>
            </a:extLst>
          </p:cNvPr>
          <p:cNvSpPr/>
          <p:nvPr/>
        </p:nvSpPr>
        <p:spPr>
          <a:xfrm>
            <a:off x="4137030" y="2722161"/>
            <a:ext cx="381000" cy="279400"/>
          </a:xfrm>
          <a:prstGeom prst="round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CED7213-B703-7EA7-9AAF-40C742FD9424}"/>
              </a:ext>
            </a:extLst>
          </p:cNvPr>
          <p:cNvSpPr txBox="1"/>
          <p:nvPr/>
        </p:nvSpPr>
        <p:spPr>
          <a:xfrm>
            <a:off x="4137030" y="2772961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6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73E465B-8392-713E-1463-887F466912AE}"/>
              </a:ext>
            </a:extLst>
          </p:cNvPr>
          <p:cNvSpPr txBox="1"/>
          <p:nvPr/>
        </p:nvSpPr>
        <p:spPr>
          <a:xfrm>
            <a:off x="4594230" y="2772961"/>
            <a:ext cx="736600" cy="4647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2C532E"/>
                </a:solidFill>
                <a:latin typeface="Microsoft YaHei" panose="020B0503020204020204" pitchFamily="34" charset="-122"/>
              </a:rPr>
              <a:t>使用反馈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2C8C04C2-2136-0487-07B6-C60E2F98B7BE}"/>
              </a:ext>
            </a:extLst>
          </p:cNvPr>
          <p:cNvSpPr/>
          <p:nvPr/>
        </p:nvSpPr>
        <p:spPr>
          <a:xfrm>
            <a:off x="2507858" y="2549374"/>
            <a:ext cx="1282700" cy="61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4D67B33-C211-B511-E457-6CA1B00B2EF0}"/>
              </a:ext>
            </a:extLst>
          </p:cNvPr>
          <p:cNvSpPr/>
          <p:nvPr/>
        </p:nvSpPr>
        <p:spPr>
          <a:xfrm>
            <a:off x="2596758" y="2714474"/>
            <a:ext cx="381000" cy="279400"/>
          </a:xfrm>
          <a:prstGeom prst="round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802B471-44FC-2E70-5028-77C4F2BDF587}"/>
              </a:ext>
            </a:extLst>
          </p:cNvPr>
          <p:cNvSpPr txBox="1"/>
          <p:nvPr/>
        </p:nvSpPr>
        <p:spPr>
          <a:xfrm>
            <a:off x="2596758" y="2765274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7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93B59D9-5B9C-C376-8E5A-29FDE93925D4}"/>
              </a:ext>
            </a:extLst>
          </p:cNvPr>
          <p:cNvSpPr txBox="1"/>
          <p:nvPr/>
        </p:nvSpPr>
        <p:spPr>
          <a:xfrm>
            <a:off x="3053958" y="2765274"/>
            <a:ext cx="736600" cy="4647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2C532E"/>
                </a:solidFill>
                <a:latin typeface="Microsoft YaHei" panose="020B0503020204020204" pitchFamily="34" charset="-122"/>
              </a:rPr>
              <a:t>异议反馈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C9A1FAA9-8ECC-E77E-B45E-4CDC9D446B43}"/>
              </a:ext>
            </a:extLst>
          </p:cNvPr>
          <p:cNvSpPr/>
          <p:nvPr/>
        </p:nvSpPr>
        <p:spPr>
          <a:xfrm>
            <a:off x="993775" y="3436159"/>
            <a:ext cx="5830541" cy="533400"/>
          </a:xfrm>
          <a:prstGeom prst="roundRect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AAA3FC5-74D4-43ED-E681-6F638210A9DE}"/>
              </a:ext>
            </a:extLst>
          </p:cNvPr>
          <p:cNvSpPr txBox="1"/>
          <p:nvPr/>
        </p:nvSpPr>
        <p:spPr>
          <a:xfrm>
            <a:off x="1222375" y="3602307"/>
            <a:ext cx="5461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300" dirty="0">
                <a:solidFill>
                  <a:srgbClr val="296F29"/>
                </a:solidFill>
                <a:latin typeface="Microsoft YaHei" panose="020B0503020204020204" pitchFamily="34" charset="-122"/>
              </a:rPr>
              <a:t>权限控制：管理员可查全部；捐赠人只能查询自己的捐赠记录。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1E5E0ED-D9AE-EE44-7440-CCABCF5F2591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E37309E8-32C7-6DDB-38DB-BB4ADDF247E1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4D372905-4267-D9D7-611C-07A1C6218E98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37A7F177-1FC0-577F-4EEE-32583CE76D5A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D123A31-C05D-EC5F-C492-50AFEBEAA322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>
                <a:solidFill>
                  <a:srgbClr val="6D5770"/>
                </a:solidFill>
                <a:latin typeface="Microsoft YaHei" panose="020B0503020204020204" pitchFamily="34" charset="-122"/>
              </a:rPr>
              <a:t>7</a:t>
            </a:r>
            <a:endParaRPr lang="zh-CN" altLang="en-US" sz="80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9933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842EE36-3345-8C88-2E27-99D56205736E}"/>
              </a:ext>
            </a:extLst>
          </p:cNvPr>
          <p:cNvSpPr/>
          <p:nvPr/>
        </p:nvSpPr>
        <p:spPr>
          <a:xfrm>
            <a:off x="0" y="0"/>
            <a:ext cx="228600" cy="54864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E75CDBE-D479-DEAF-8FF1-4C414AE04511}"/>
              </a:ext>
            </a:extLst>
          </p:cNvPr>
          <p:cNvSpPr/>
          <p:nvPr/>
        </p:nvSpPr>
        <p:spPr>
          <a:xfrm>
            <a:off x="5473700" y="-939800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41DB0C-731B-224F-D1ED-446384FCEB8D}"/>
              </a:ext>
            </a:extLst>
          </p:cNvPr>
          <p:cNvSpPr txBox="1"/>
          <p:nvPr/>
        </p:nvSpPr>
        <p:spPr>
          <a:xfrm>
            <a:off x="660400" y="431800"/>
            <a:ext cx="787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2C532E"/>
                </a:solidFill>
                <a:latin typeface="Microsoft YaHei" panose="020B0503020204020204" pitchFamily="34" charset="-122"/>
              </a:rPr>
              <a:t>追溯查询实现方式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BE05A3-5C2B-AF4F-5AA8-A205C94EF9F1}"/>
              </a:ext>
            </a:extLst>
          </p:cNvPr>
          <p:cNvSpPr/>
          <p:nvPr/>
        </p:nvSpPr>
        <p:spPr>
          <a:xfrm>
            <a:off x="660400" y="990600"/>
            <a:ext cx="9398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19A984F-5D01-BD7A-137D-7D4FCAA7B993}"/>
              </a:ext>
            </a:extLst>
          </p:cNvPr>
          <p:cNvSpPr/>
          <p:nvPr/>
        </p:nvSpPr>
        <p:spPr>
          <a:xfrm>
            <a:off x="1435894" y="1295400"/>
            <a:ext cx="5054600" cy="289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80CFE2-DC6A-D2F2-93A3-81A5E89DD07B}"/>
              </a:ext>
            </a:extLst>
          </p:cNvPr>
          <p:cNvSpPr txBox="1"/>
          <p:nvPr/>
        </p:nvSpPr>
        <p:spPr>
          <a:xfrm>
            <a:off x="1816894" y="1854200"/>
            <a:ext cx="4292600" cy="14927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后端接口：</a:t>
            </a:r>
            <a:r>
              <a:rPr lang="en-US" altLang="zh-CN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/</a:t>
            </a:r>
            <a:r>
              <a:rPr lang="en-US" altLang="zh-CN" sz="1300" dirty="0" err="1">
                <a:solidFill>
                  <a:srgbClr val="2C532E"/>
                </a:solidFill>
                <a:latin typeface="Microsoft YaHei" panose="020B0503020204020204" pitchFamily="34" charset="-122"/>
              </a:rPr>
              <a:t>zhuishuchaxun</a:t>
            </a:r>
            <a:r>
              <a:rPr lang="en-US" altLang="zh-CN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/trace</a:t>
            </a:r>
            <a:r>
              <a:rPr lang="zh-CN" altLang="en-US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。</a:t>
            </a:r>
          </a:p>
          <a:p>
            <a:pPr>
              <a:spcAft>
                <a:spcPts val="800"/>
              </a:spcAft>
            </a:pPr>
            <a:r>
              <a:rPr lang="en-US" altLang="zh-CN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查询依据：</a:t>
            </a:r>
            <a:r>
              <a:rPr lang="en-US" altLang="zh-CN" sz="1300" dirty="0" err="1">
                <a:solidFill>
                  <a:srgbClr val="2C532E"/>
                </a:solidFill>
                <a:latin typeface="Microsoft YaHei" panose="020B0503020204020204" pitchFamily="34" charset="-122"/>
              </a:rPr>
              <a:t>juanzengbianhao</a:t>
            </a:r>
            <a:r>
              <a:rPr lang="en-US" altLang="zh-CN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捐赠编号。</a:t>
            </a:r>
          </a:p>
          <a:p>
            <a:pPr>
              <a:spcAft>
                <a:spcPts val="800"/>
              </a:spcAft>
            </a:pPr>
            <a:r>
              <a:rPr lang="en-US" altLang="zh-CN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返回结构：捐赠信息、验收记录、申领分支、出库记录、接收信息、反馈信息。</a:t>
            </a:r>
          </a:p>
          <a:p>
            <a:pPr>
              <a:spcAft>
                <a:spcPts val="800"/>
              </a:spcAft>
            </a:pPr>
            <a:r>
              <a:rPr lang="en-US" altLang="zh-CN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前端展示：以流程节点方式展示物资流转状态。</a:t>
            </a:r>
          </a:p>
          <a:p>
            <a:pPr>
              <a:spcAft>
                <a:spcPts val="800"/>
              </a:spcAft>
            </a:pPr>
            <a:r>
              <a:rPr lang="en-US" altLang="zh-CN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 dirty="0">
                <a:solidFill>
                  <a:srgbClr val="2C532E"/>
                </a:solidFill>
                <a:latin typeface="Microsoft YaHei" panose="020B0503020204020204" pitchFamily="34" charset="-122"/>
              </a:rPr>
              <a:t>异常提示：缺少关键记录时显示暂无验收、暂无申领、暂无出库等提示。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697901-6620-BCDF-69C2-BC409801E3C3}"/>
              </a:ext>
            </a:extLst>
          </p:cNvPr>
          <p:cNvSpPr txBox="1"/>
          <p:nvPr/>
        </p:nvSpPr>
        <p:spPr>
          <a:xfrm>
            <a:off x="1271588" y="4508464"/>
            <a:ext cx="5383212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6F29"/>
                </a:solidFill>
                <a:latin typeface="Microsoft YaHei" panose="020B0503020204020204" pitchFamily="34" charset="-122"/>
              </a:rPr>
              <a:t>一个编号贯穿全链路，一次查询定位物资当前状态。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929137E-9EFF-61BA-2D5B-309987C8C78D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A4DA1CB-61D2-D056-76FC-973820313F05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32CC3C6-9BBF-C6C8-6F45-2427D2FB4343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EB76684-C9EE-E7AE-9386-B17849498AEB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A1982EA-0836-D306-C38E-8FB023290C36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>
                <a:solidFill>
                  <a:srgbClr val="6D5770"/>
                </a:solidFill>
                <a:latin typeface="Microsoft YaHei" panose="020B0503020204020204" pitchFamily="34" charset="-122"/>
              </a:rPr>
              <a:t>8</a:t>
            </a:r>
            <a:endParaRPr lang="zh-CN" altLang="en-US" sz="80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4008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C327B-437F-9DBA-89F8-0F7C58C8E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5EA8579-60FF-9A01-CC24-1C821D39679C}"/>
              </a:ext>
            </a:extLst>
          </p:cNvPr>
          <p:cNvSpPr/>
          <p:nvPr/>
        </p:nvSpPr>
        <p:spPr>
          <a:xfrm>
            <a:off x="0" y="0"/>
            <a:ext cx="228600" cy="54864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388C782-4AE7-232F-82E8-76CABD47744D}"/>
              </a:ext>
            </a:extLst>
          </p:cNvPr>
          <p:cNvSpPr/>
          <p:nvPr/>
        </p:nvSpPr>
        <p:spPr>
          <a:xfrm>
            <a:off x="5473700" y="-939800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CD5536-E56E-AFCA-F526-44C99AB04CDD}"/>
              </a:ext>
            </a:extLst>
          </p:cNvPr>
          <p:cNvSpPr txBox="1"/>
          <p:nvPr/>
        </p:nvSpPr>
        <p:spPr>
          <a:xfrm>
            <a:off x="660400" y="431800"/>
            <a:ext cx="787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 dirty="0">
                <a:solidFill>
                  <a:srgbClr val="2C532E"/>
                </a:solidFill>
                <a:latin typeface="Microsoft YaHei" panose="020B0503020204020204" pitchFamily="34" charset="-122"/>
              </a:rPr>
              <a:t>追溯查询界面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71A666-336D-C3D3-5E2C-8CB6634B9BAD}"/>
              </a:ext>
            </a:extLst>
          </p:cNvPr>
          <p:cNvSpPr/>
          <p:nvPr/>
        </p:nvSpPr>
        <p:spPr>
          <a:xfrm>
            <a:off x="660400" y="990600"/>
            <a:ext cx="9398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033C4D5-F3D7-BD87-C291-DDE46F07CB13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E818B37-7297-C0E3-6DA3-ECA85994AE94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1497DD0-5858-9499-4F36-4518387E5E5D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AB254C3-8ECB-BE8D-F29B-F8483E7D5AB9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862DA8-14C8-68F8-3ADA-3B5BEC194D59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dirty="0">
                <a:solidFill>
                  <a:srgbClr val="6D5770"/>
                </a:solidFill>
                <a:latin typeface="Microsoft YaHei" panose="020B0503020204020204" pitchFamily="34" charset="-122"/>
              </a:rPr>
              <a:t>9</a:t>
            </a:r>
            <a:endParaRPr lang="zh-CN" altLang="en-US" sz="800" dirty="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2279378-FC06-7AB2-D558-9C76A5D38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59" y="1220040"/>
            <a:ext cx="3521908" cy="194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222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7AA3363-83A9-26BC-D37A-51C711041BFD}"/>
              </a:ext>
            </a:extLst>
          </p:cNvPr>
          <p:cNvSpPr/>
          <p:nvPr/>
        </p:nvSpPr>
        <p:spPr>
          <a:xfrm>
            <a:off x="0" y="0"/>
            <a:ext cx="228600" cy="54864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119A8AB-1AFD-B258-96E4-52CDE92793A4}"/>
              </a:ext>
            </a:extLst>
          </p:cNvPr>
          <p:cNvSpPr/>
          <p:nvPr/>
        </p:nvSpPr>
        <p:spPr>
          <a:xfrm>
            <a:off x="5473700" y="-939800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30D2B9-E67A-862B-D5E6-55FF3798F2CE}"/>
              </a:ext>
            </a:extLst>
          </p:cNvPr>
          <p:cNvSpPr txBox="1"/>
          <p:nvPr/>
        </p:nvSpPr>
        <p:spPr>
          <a:xfrm>
            <a:off x="660400" y="431800"/>
            <a:ext cx="787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2C532E"/>
                </a:solidFill>
                <a:latin typeface="Microsoft YaHei" panose="020B0503020204020204" pitchFamily="34" charset="-122"/>
              </a:rPr>
              <a:t>不足与展望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A63BE1-C761-8027-F87F-8338B701231D}"/>
              </a:ext>
            </a:extLst>
          </p:cNvPr>
          <p:cNvSpPr/>
          <p:nvPr/>
        </p:nvSpPr>
        <p:spPr>
          <a:xfrm>
            <a:off x="660400" y="990600"/>
            <a:ext cx="9398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95D65AE-0712-34CD-1AB9-0903D309011C}"/>
              </a:ext>
            </a:extLst>
          </p:cNvPr>
          <p:cNvSpPr/>
          <p:nvPr/>
        </p:nvSpPr>
        <p:spPr>
          <a:xfrm>
            <a:off x="1092200" y="1625600"/>
            <a:ext cx="2108200" cy="226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348A800-4E6C-6824-4A4E-3120E93D41FA}"/>
              </a:ext>
            </a:extLst>
          </p:cNvPr>
          <p:cNvSpPr/>
          <p:nvPr/>
        </p:nvSpPr>
        <p:spPr>
          <a:xfrm>
            <a:off x="1320800" y="1854200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A85246-6854-386F-95B5-43625F208B4D}"/>
              </a:ext>
            </a:extLst>
          </p:cNvPr>
          <p:cNvSpPr txBox="1"/>
          <p:nvPr/>
        </p:nvSpPr>
        <p:spPr>
          <a:xfrm>
            <a:off x="1320800" y="190500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!</a:t>
            </a:r>
            <a:endParaRPr lang="zh-CN" altLang="en-US" sz="1100" b="1">
              <a:solidFill>
                <a:srgbClr val="296F2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03704E-C472-6AF6-6BBA-646B224A1137}"/>
              </a:ext>
            </a:extLst>
          </p:cNvPr>
          <p:cNvSpPr txBox="1"/>
          <p:nvPr/>
        </p:nvSpPr>
        <p:spPr>
          <a:xfrm>
            <a:off x="1803400" y="1892300"/>
            <a:ext cx="2108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96F29"/>
                </a:solidFill>
                <a:latin typeface="Microsoft YaHei" panose="020B0503020204020204" pitchFamily="34" charset="-122"/>
              </a:rPr>
              <a:t>当前不足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97CEFF-AFE6-4204-C240-DB317B23A550}"/>
              </a:ext>
            </a:extLst>
          </p:cNvPr>
          <p:cNvSpPr txBox="1"/>
          <p:nvPr/>
        </p:nvSpPr>
        <p:spPr>
          <a:xfrm>
            <a:off x="1371600" y="2362200"/>
            <a:ext cx="2514600" cy="65094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主要面向</a:t>
            </a: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Web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端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移动端体验可优化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高并发场景仍可加强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CBF0343-15A8-7675-389C-DA61646B23FC}"/>
              </a:ext>
            </a:extLst>
          </p:cNvPr>
          <p:cNvSpPr/>
          <p:nvPr/>
        </p:nvSpPr>
        <p:spPr>
          <a:xfrm>
            <a:off x="4064000" y="1625600"/>
            <a:ext cx="2425700" cy="226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848AB4A-902A-37B6-CFF9-19F51ED356BD}"/>
              </a:ext>
            </a:extLst>
          </p:cNvPr>
          <p:cNvSpPr/>
          <p:nvPr/>
        </p:nvSpPr>
        <p:spPr>
          <a:xfrm>
            <a:off x="4308475" y="1844283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18F60C-5203-DBB8-8B51-5E0DD2CA76D9}"/>
              </a:ext>
            </a:extLst>
          </p:cNvPr>
          <p:cNvSpPr txBox="1"/>
          <p:nvPr/>
        </p:nvSpPr>
        <p:spPr>
          <a:xfrm>
            <a:off x="4292600" y="190500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100" b="1" dirty="0">
                <a:solidFill>
                  <a:srgbClr val="296F29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1C3134-81BA-9BF2-4608-F619EA4E2777}"/>
              </a:ext>
            </a:extLst>
          </p:cNvPr>
          <p:cNvSpPr txBox="1"/>
          <p:nvPr/>
        </p:nvSpPr>
        <p:spPr>
          <a:xfrm>
            <a:off x="4775200" y="1892300"/>
            <a:ext cx="2108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 dirty="0">
                <a:solidFill>
                  <a:srgbClr val="296F29"/>
                </a:solidFill>
                <a:latin typeface="Microsoft YaHei" panose="020B0503020204020204" pitchFamily="34" charset="-122"/>
              </a:rPr>
              <a:t>后续展望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BF63A17-9255-9324-4369-693E3B9DA140}"/>
              </a:ext>
            </a:extLst>
          </p:cNvPr>
          <p:cNvSpPr txBox="1"/>
          <p:nvPr/>
        </p:nvSpPr>
        <p:spPr>
          <a:xfrm>
            <a:off x="4343400" y="2362200"/>
            <a:ext cx="2514600" cy="8371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二维码扫码追溯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缓存与性能优化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区块链或电子签章提升可信度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完善统计与智能推荐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78B610A-7AE7-EA38-1174-FCA49222294D}"/>
              </a:ext>
            </a:extLst>
          </p:cNvPr>
          <p:cNvSpPr txBox="1"/>
          <p:nvPr/>
        </p:nvSpPr>
        <p:spPr>
          <a:xfrm>
            <a:off x="1486693" y="4326523"/>
            <a:ext cx="4799013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600" b="1">
                <a:solidFill>
                  <a:srgbClr val="296F29"/>
                </a:solidFill>
                <a:latin typeface="Microsoft YaHei" panose="020B0503020204020204" pitchFamily="34" charset="-122"/>
              </a:rPr>
              <a:t>目标：让物资流向更透明，让公益管理更高效。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3F8233B-F46A-22E6-0E8F-431301C52E28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9372475-E624-B0C1-6845-07C6F9300E52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326E3CD-6896-4712-224F-3AE6A648739A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3277973-EF74-7230-7381-2A1047AF27A9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30B9D49-8100-41BA-E979-418180AA55A2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dirty="0">
                <a:solidFill>
                  <a:srgbClr val="6D5770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00" dirty="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4134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1A05DC9C-0B2D-CE54-F2C7-BD4CC771CEE0}"/>
              </a:ext>
            </a:extLst>
          </p:cNvPr>
          <p:cNvSpPr/>
          <p:nvPr/>
        </p:nvSpPr>
        <p:spPr>
          <a:xfrm>
            <a:off x="2405857" y="1198166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096723-37BA-9DA9-F2A2-1304781C15AF}"/>
              </a:ext>
            </a:extLst>
          </p:cNvPr>
          <p:cNvSpPr txBox="1"/>
          <p:nvPr/>
        </p:nvSpPr>
        <p:spPr>
          <a:xfrm>
            <a:off x="2627710" y="2343548"/>
            <a:ext cx="2350294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3400" b="1" dirty="0">
                <a:solidFill>
                  <a:srgbClr val="296F29"/>
                </a:solidFill>
                <a:latin typeface="Microsoft YaHei" panose="020B0503020204020204" pitchFamily="34" charset="-122"/>
              </a:rPr>
              <a:t>感谢聆听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6ACABE-96FB-C01D-C23F-D148E237613C}"/>
              </a:ext>
            </a:extLst>
          </p:cNvPr>
          <p:cNvSpPr txBox="1"/>
          <p:nvPr/>
        </p:nvSpPr>
        <p:spPr>
          <a:xfrm>
            <a:off x="2405857" y="3187605"/>
            <a:ext cx="2857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700" dirty="0">
                <a:solidFill>
                  <a:srgbClr val="2C532E"/>
                </a:solidFill>
                <a:latin typeface="Microsoft YaHei" panose="020B0503020204020204" pitchFamily="34" charset="-122"/>
              </a:rPr>
              <a:t>请各位老师批评指正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0FD1752-6574-0C79-F9BE-B1FD244E110A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B621C77-A8A6-D4E3-D57F-055EC20940EA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0B10C7D-7985-582B-1917-775FE581DC7A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6C5D648-8965-683E-914A-2ADC1DB219D3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8182D7B-5EFE-A420-EF09-D4B302212236}"/>
              </a:ext>
            </a:extLst>
          </p:cNvPr>
          <p:cNvSpPr txBox="1"/>
          <p:nvPr/>
        </p:nvSpPr>
        <p:spPr>
          <a:xfrm>
            <a:off x="6400800" y="5118100"/>
            <a:ext cx="25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dirty="0">
                <a:solidFill>
                  <a:srgbClr val="6D5770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800" dirty="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7697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691</Words>
  <Application>Microsoft Office PowerPoint</Application>
  <PresentationFormat>自定义</PresentationFormat>
  <Paragraphs>141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等线 Light</vt:lpstr>
      <vt:lpstr>宋体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丰羽 陈</dc:creator>
  <cp:lastModifiedBy>丰羽 陈</cp:lastModifiedBy>
  <cp:revision>29</cp:revision>
  <dcterms:created xsi:type="dcterms:W3CDTF">2026-05-08T06:28:30Z</dcterms:created>
  <dcterms:modified xsi:type="dcterms:W3CDTF">2026-05-08T10:00:08Z</dcterms:modified>
</cp:coreProperties>
</file>