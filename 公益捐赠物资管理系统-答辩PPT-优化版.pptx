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315200" cy="5486400" type="B5JIS"/>
  <p:notesSz cx="6858000" cy="9144000"/>
  <p:defaultTextStyle>
    <a:defPPr>
      <a:defRPr lang="zh-CN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24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804EB-BB9B-5EF8-C3A0-BB18B61A0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97890"/>
            <a:ext cx="548640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4C3336-7683-41A7-227C-0E58BA103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A3DDCB-8ACE-9E18-30E3-2997C6CE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79B95-FFB7-044D-4183-D0304BC2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452421-0138-AAAF-C17B-B145AF49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72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22D90-EADD-F274-657A-6FF6C5032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8121D-3384-3026-1D76-3A555C6DA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E4CF6-0DF9-BB16-7CF8-CCC6B441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D3547-F012-A4BB-69BD-8731CEF0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AAA679-3A50-36EB-4424-C290FC7E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66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7BEB5-8E84-9910-D134-76949AE5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1EB24D-5EC2-AC57-F432-CA4C73ACF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3E294-6206-5FBD-4268-5B687F76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64A875-B470-80D6-9392-B38D2206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55DB1-91B8-8802-E2C9-FD3977A8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70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9291-DB80-7025-0E64-16136385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BD416-737C-7A51-D677-903C5D12D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E3D209-2F48-26D1-60A4-A8C47D67C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922650-6332-A108-09DF-E23AAC65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5E5CBF-240F-68B5-1841-01BAEECD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D2E49-CBA3-5BC3-F5B6-2220F365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81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188ED-95CE-8D1E-FC84-C1E013A7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1B134B-D432-9141-2CCE-00DC20452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1344930"/>
            <a:ext cx="3094672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FAB416-F6DE-6DB5-147B-A28CE7DBB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2004060"/>
            <a:ext cx="3094672" cy="29476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2C3ACB-C73C-5AD1-5211-D6BF2D8EE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0" y="1344930"/>
            <a:ext cx="3109913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F754CD-0CBF-9358-EF13-152FE71E0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0" y="2004060"/>
            <a:ext cx="3109913" cy="29476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C3FCDF-1A13-D05B-1637-7AB263F35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24DE1A2-D99F-6D56-B24B-E9DAC53E9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A78C3D-ECE6-C17F-6382-D74F2FA8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2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BDC16-CCF7-858B-76EA-4C2A8DC50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5F0702-50C5-6131-E3B1-68C1A2D6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E8A214-8A02-2CB4-799E-151BF18D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B947B55-0649-98D2-E3DE-AD2FF3E3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73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FC7579-E75A-BCFA-225C-A9A298C0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D72681-8677-1FD5-8317-94917C32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631FB3-319D-F32D-4331-EC96C4DF1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56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04460-FC7D-14B6-B808-08B7D7B5E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42C074-E454-7D71-62D6-8F3FCD318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A7752D-C273-E09D-0FB7-91252CC58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A4315E-EA68-6F50-C9A2-32582860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1CD3F7-666D-5E31-F73C-8E07C37AF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F62EE0-CC1E-A94C-FECE-23E32A31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32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87BBE-D405-866C-497A-BF45EA7BB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D8ACB7-F8C0-35EE-792E-B83C29F26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D2FE44-9124-FB68-9999-71FB43FE6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3F2FF-7FEF-612F-C7E6-D1B34D44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CC21C0-E3CB-51D7-22A5-67C929D1D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A96C1B-6A5A-C7BA-2ABF-A11C1CAA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72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ECD39-698E-E6D4-7106-97F4221D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1AA902-7DDB-DAD5-1317-0E4557FE9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4AD3A-43AC-45AA-910B-7DD1748D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C2802-5AB5-E694-F3B6-2C2D75FF0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AAC26-87DB-2052-B016-069CB95E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15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A66BA7-9A80-33F2-32A4-5CE4DA6C1A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2204FF-9331-BA59-12EF-834987B84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C534FB-214F-4E95-3510-4EC26D7E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641B0C-DBB4-E6CE-DD0A-33B69479F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BC7E76-0A93-708D-0840-13ECF578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50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C463BD-E518-32E3-2BF0-18F8CE25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24BB1E-E042-F8E6-FE2B-BED20208C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2C52E-1B95-5E1D-46E4-4C2AB7E2E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70E6C-08C5-4A6A-B406-41F1BD01437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F90ED8-075C-33C8-A340-FFCFA8FF2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5085080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0DBD7A-2341-95C4-284E-D2C863A96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E01D6-74F8-4D71-A00C-8C69D4580F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62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C13190-FE3B-28E5-2895-2484B18F662D}"/>
              </a:ext>
            </a:extLst>
          </p:cNvPr>
          <p:cNvSpPr/>
          <p:nvPr/>
        </p:nvSpPr>
        <p:spPr>
          <a:xfrm>
            <a:off x="0" y="0"/>
            <a:ext cx="31750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CF54AF-1235-CB93-9E56-5A1284883AC4}"/>
              </a:ext>
            </a:extLst>
          </p:cNvPr>
          <p:cNvSpPr/>
          <p:nvPr/>
        </p:nvSpPr>
        <p:spPr>
          <a:xfrm>
            <a:off x="1905000" y="-889000"/>
            <a:ext cx="3429000" cy="3429000"/>
          </a:xfrm>
          <a:prstGeom prst="ellipse">
            <a:avLst/>
          </a:prstGeom>
          <a:solidFill>
            <a:srgbClr val="D5EED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8267E7-67D8-DCE8-591F-6AC0F74CEAA3}"/>
              </a:ext>
            </a:extLst>
          </p:cNvPr>
          <p:cNvSpPr txBox="1"/>
          <p:nvPr/>
        </p:nvSpPr>
        <p:spPr>
          <a:xfrm>
            <a:off x="3708400" y="1498600"/>
            <a:ext cx="533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000" b="1">
                <a:solidFill>
                  <a:srgbClr val="2C532E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25D27E-B0E2-9A2F-2A75-B72887B13B70}"/>
              </a:ext>
            </a:extLst>
          </p:cNvPr>
          <p:cNvSpPr txBox="1"/>
          <p:nvPr/>
        </p:nvSpPr>
        <p:spPr>
          <a:xfrm>
            <a:off x="3733800" y="2159000"/>
            <a:ext cx="4572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solidFill>
                  <a:srgbClr val="6D5770"/>
                </a:solidFill>
                <a:latin typeface="Microsoft YaHei" panose="020B0503020204020204" pitchFamily="34" charset="-122"/>
              </a:rPr>
              <a:t>毕业设计答辩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43B2AD-40FE-A11C-ED1C-745FCEF0A76C}"/>
              </a:ext>
            </a:extLst>
          </p:cNvPr>
          <p:cNvSpPr/>
          <p:nvPr/>
        </p:nvSpPr>
        <p:spPr>
          <a:xfrm>
            <a:off x="3733800" y="2667000"/>
            <a:ext cx="9144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4033DD-B9D0-3880-E6BB-C5867A40F867}"/>
              </a:ext>
            </a:extLst>
          </p:cNvPr>
          <p:cNvSpPr txBox="1"/>
          <p:nvPr/>
        </p:nvSpPr>
        <p:spPr>
          <a:xfrm>
            <a:off x="3733800" y="3200400"/>
            <a:ext cx="482600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学生：陈丰羽
学号：</a:t>
            </a: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2022180042
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专业：计算机科学与技术
指导老师：唐国良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6F53C45-9FD5-A764-4A47-410E0F1C0AD2}"/>
              </a:ext>
            </a:extLst>
          </p:cNvPr>
          <p:cNvSpPr/>
          <p:nvPr/>
        </p:nvSpPr>
        <p:spPr>
          <a:xfrm>
            <a:off x="685800" y="1841500"/>
            <a:ext cx="1905000" cy="1905000"/>
          </a:xfrm>
          <a:prstGeom prst="roundRect">
            <a:avLst/>
          </a:prstGeom>
          <a:solidFill>
            <a:srgbClr val="F1F7E8"/>
          </a:solidFill>
          <a:ln w="12700">
            <a:solidFill>
              <a:srgbClr val="C7D8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C9F65E-DB79-A9D7-A39E-715DD766C595}"/>
              </a:ext>
            </a:extLst>
          </p:cNvPr>
          <p:cNvSpPr txBox="1"/>
          <p:nvPr/>
        </p:nvSpPr>
        <p:spPr>
          <a:xfrm>
            <a:off x="914400" y="2540000"/>
            <a:ext cx="1447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200" b="1">
                <a:solidFill>
                  <a:srgbClr val="296F29"/>
                </a:solidFill>
                <a:latin typeface="Microsoft YaHei" panose="020B0503020204020204" pitchFamily="34" charset="-122"/>
              </a:rPr>
              <a:t>图片占位：公益物资流转或系统首页截图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A1B7B05-C6B8-96E6-7CAF-FE73842C5D1A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48E11600-D63B-9BE1-5840-4A6DEF64278B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DF5490-9A14-3D80-5F2C-9CACD8EB366B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73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380ED76-64F4-36A9-A593-A7443350ADD1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66AC01-1C11-21DA-D777-4A3AF6693E39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75172B-84C0-DB17-A660-4CDADB012F6D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98093A-8F2C-5996-77DC-EB73C9BA74DA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A119EA-579F-8CE4-4FB9-08AD032E7E48}"/>
              </a:ext>
            </a:extLst>
          </p:cNvPr>
          <p:cNvSpPr txBox="1"/>
          <p:nvPr/>
        </p:nvSpPr>
        <p:spPr>
          <a:xfrm>
            <a:off x="1778000" y="9144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6D5770"/>
                </a:solidFill>
                <a:latin typeface="Microsoft YaHei" panose="020B0503020204020204" pitchFamily="34" charset="-122"/>
              </a:rPr>
              <a:t>为什么要做这个系统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8C958B6-F29B-E3ED-E036-0D7B09BC79E4}"/>
              </a:ext>
            </a:extLst>
          </p:cNvPr>
          <p:cNvSpPr/>
          <p:nvPr/>
        </p:nvSpPr>
        <p:spPr>
          <a:xfrm>
            <a:off x="812800" y="1473200"/>
            <a:ext cx="4953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E14620-7F2F-900E-BADE-0D0A5DBC0386}"/>
              </a:ext>
            </a:extLst>
          </p:cNvPr>
          <p:cNvSpPr txBox="1"/>
          <p:nvPr/>
        </p:nvSpPr>
        <p:spPr>
          <a:xfrm>
            <a:off x="1168400" y="1841500"/>
            <a:ext cx="4191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公益捐赠涉及捐赠人、接收机构和管理方，多方协同要求高。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传统线下管理容易出现信息分散、流转不透明、反馈滞后等问题。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捐赠人关心物资是否被验收、是否被分拨、是否真正投入使用。</a:t>
            </a:r>
          </a:p>
          <a:p>
            <a:pPr>
              <a:spcAft>
                <a:spcPts val="800"/>
              </a:spcAft>
            </a:pPr>
            <a:r>
              <a:rPr lang="en-US" altLang="zh-CN" sz="15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500">
                <a:solidFill>
                  <a:srgbClr val="2C532E"/>
                </a:solidFill>
                <a:latin typeface="Microsoft YaHei" panose="020B0503020204020204" pitchFamily="34" charset="-122"/>
              </a:rPr>
              <a:t>因此需要建设一个可管理、可查询、可追溯的公益捐赠物资管理系统。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DF14C4-4C80-9BD9-956F-CD773208B3EF}"/>
              </a:ext>
            </a:extLst>
          </p:cNvPr>
          <p:cNvSpPr/>
          <p:nvPr/>
        </p:nvSpPr>
        <p:spPr>
          <a:xfrm>
            <a:off x="6248400" y="1778000"/>
            <a:ext cx="1905000" cy="1930400"/>
          </a:xfrm>
          <a:prstGeom prst="roundRect">
            <a:avLst/>
          </a:prstGeom>
          <a:solidFill>
            <a:srgbClr val="F1F7E8"/>
          </a:solidFill>
          <a:ln w="12700">
            <a:solidFill>
              <a:srgbClr val="C7D8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7B123B-0A9A-6264-AADB-C22B049C5452}"/>
              </a:ext>
            </a:extLst>
          </p:cNvPr>
          <p:cNvSpPr txBox="1"/>
          <p:nvPr/>
        </p:nvSpPr>
        <p:spPr>
          <a:xfrm>
            <a:off x="6477000" y="2489200"/>
            <a:ext cx="14478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200" b="1">
                <a:solidFill>
                  <a:srgbClr val="296F29"/>
                </a:solidFill>
                <a:latin typeface="Microsoft YaHei" panose="020B0503020204020204" pitchFamily="34" charset="-122"/>
              </a:rPr>
              <a:t>图片占位：公益捐赠场景图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FA87F19-5F19-F27C-C975-489A684163DF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8BA4BF5-7856-0C54-E75E-5423016B5C47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9EF2BA6-B840-E434-3A7A-EA319AA001C6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57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97B492-E8D6-7922-7ADE-4CF2C51B6B34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CE404F-094F-9BB1-4A7F-B8358B23EBDA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849B6B-2348-535A-AB12-AE6435F7A3CB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系统目标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89D634-1BC4-A8FF-84A0-1768D2EA8F47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865BE1B-CA73-395D-1829-0B0DABAC065F}"/>
              </a:ext>
            </a:extLst>
          </p:cNvPr>
          <p:cNvSpPr/>
          <p:nvPr/>
        </p:nvSpPr>
        <p:spPr>
          <a:xfrm>
            <a:off x="660400" y="1587500"/>
            <a:ext cx="238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DCE4181-C6DA-5D03-BA5C-49C9302DD9F2}"/>
              </a:ext>
            </a:extLst>
          </p:cNvPr>
          <p:cNvSpPr/>
          <p:nvPr/>
        </p:nvSpPr>
        <p:spPr>
          <a:xfrm>
            <a:off x="889000" y="18161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D5AE89-0CC3-34A8-61B9-24C6748B7885}"/>
              </a:ext>
            </a:extLst>
          </p:cNvPr>
          <p:cNvSpPr txBox="1"/>
          <p:nvPr/>
        </p:nvSpPr>
        <p:spPr>
          <a:xfrm>
            <a:off x="889000" y="18669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1777F3-0CA6-C465-51A9-2AB0862FB6B7}"/>
              </a:ext>
            </a:extLst>
          </p:cNvPr>
          <p:cNvSpPr txBox="1"/>
          <p:nvPr/>
        </p:nvSpPr>
        <p:spPr>
          <a:xfrm>
            <a:off x="1371600" y="18542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流程规范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80DB093-F01E-713A-90FE-B3AEACC5975D}"/>
              </a:ext>
            </a:extLst>
          </p:cNvPr>
          <p:cNvSpPr txBox="1"/>
          <p:nvPr/>
        </p:nvSpPr>
        <p:spPr>
          <a:xfrm>
            <a:off x="939800" y="2324100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登记、审核、验收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申领、出库、接收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反馈闭环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87F4BE4-11E9-88D3-6024-624E5003C405}"/>
              </a:ext>
            </a:extLst>
          </p:cNvPr>
          <p:cNvSpPr/>
          <p:nvPr/>
        </p:nvSpPr>
        <p:spPr>
          <a:xfrm>
            <a:off x="3378200" y="1587500"/>
            <a:ext cx="238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3BAC57F-1FC0-074C-4E16-9C856D96B840}"/>
              </a:ext>
            </a:extLst>
          </p:cNvPr>
          <p:cNvSpPr/>
          <p:nvPr/>
        </p:nvSpPr>
        <p:spPr>
          <a:xfrm>
            <a:off x="3606800" y="18161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18E052-D71C-5DFB-FEC0-BD163F706B31}"/>
              </a:ext>
            </a:extLst>
          </p:cNvPr>
          <p:cNvSpPr txBox="1"/>
          <p:nvPr/>
        </p:nvSpPr>
        <p:spPr>
          <a:xfrm>
            <a:off x="3606800" y="18669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B29ECB5-2D74-087B-2120-6C18F6146DE9}"/>
              </a:ext>
            </a:extLst>
          </p:cNvPr>
          <p:cNvSpPr txBox="1"/>
          <p:nvPr/>
        </p:nvSpPr>
        <p:spPr>
          <a:xfrm>
            <a:off x="4089400" y="18542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统一管理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3E3D93-808C-162C-1E94-DC63B7190057}"/>
              </a:ext>
            </a:extLst>
          </p:cNvPr>
          <p:cNvSpPr txBox="1"/>
          <p:nvPr/>
        </p:nvSpPr>
        <p:spPr>
          <a:xfrm>
            <a:off x="3657600" y="2324100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用户与机构管理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物资与业务记录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公告、统计、日志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8E0B9C8-E8BB-DE53-5442-343F1A4E9486}"/>
              </a:ext>
            </a:extLst>
          </p:cNvPr>
          <p:cNvSpPr/>
          <p:nvPr/>
        </p:nvSpPr>
        <p:spPr>
          <a:xfrm>
            <a:off x="6096000" y="1587500"/>
            <a:ext cx="2387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C673161-2D46-8B16-7A24-5C7EFCD3398E}"/>
              </a:ext>
            </a:extLst>
          </p:cNvPr>
          <p:cNvSpPr/>
          <p:nvPr/>
        </p:nvSpPr>
        <p:spPr>
          <a:xfrm>
            <a:off x="6324600" y="18161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6791E25-322E-2A6A-4D9C-789317CE876A}"/>
              </a:ext>
            </a:extLst>
          </p:cNvPr>
          <p:cNvSpPr txBox="1"/>
          <p:nvPr/>
        </p:nvSpPr>
        <p:spPr>
          <a:xfrm>
            <a:off x="6324600" y="18669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A6DF319-D6D5-C9DC-190D-3EAA8790AF5B}"/>
              </a:ext>
            </a:extLst>
          </p:cNvPr>
          <p:cNvSpPr txBox="1"/>
          <p:nvPr/>
        </p:nvSpPr>
        <p:spPr>
          <a:xfrm>
            <a:off x="6807200" y="18542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全程追溯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C7F58D-A93F-5688-AA06-5B881A7F642C}"/>
              </a:ext>
            </a:extLst>
          </p:cNvPr>
          <p:cNvSpPr txBox="1"/>
          <p:nvPr/>
        </p:nvSpPr>
        <p:spPr>
          <a:xfrm>
            <a:off x="6375400" y="2324100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按捐赠编号查询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查看流转节点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发现异常记录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D76ABD-709C-28B6-8199-C38631A64768}"/>
              </a:ext>
            </a:extLst>
          </p:cNvPr>
          <p:cNvSpPr txBox="1"/>
          <p:nvPr/>
        </p:nvSpPr>
        <p:spPr>
          <a:xfrm>
            <a:off x="965200" y="4267200"/>
            <a:ext cx="7239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600" b="1">
                <a:solidFill>
                  <a:srgbClr val="296F29"/>
                </a:solidFill>
                <a:latin typeface="Microsoft YaHei" panose="020B0503020204020204" pitchFamily="34" charset="-122"/>
              </a:rPr>
              <a:t>核心价值：让公益物资从“捐出去”到“用起来”都有记录可查。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46EC798-00E8-E945-51B9-4BC06CC0426F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502E58E6-B698-C81A-6546-AF71332B5586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C87D244-F171-5BF7-409C-AF42F375799C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123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C670D3-561B-2429-178E-2BBCF223A405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AB4C3A0-C97C-14A5-0FC0-7E6C66982A46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A8C544-DF96-B5A4-8532-1EE2B5031CA0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系统技术栈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77790C-56FA-36D2-558B-A3849623AB0E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FA7B54-85BD-09F8-BC6C-093AE66316B9}"/>
              </a:ext>
            </a:extLst>
          </p:cNvPr>
          <p:cNvSpPr/>
          <p:nvPr/>
        </p:nvSpPr>
        <p:spPr>
          <a:xfrm>
            <a:off x="660400" y="1524000"/>
            <a:ext cx="238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FC1B68-112B-F031-F853-0C898BCCA907}"/>
              </a:ext>
            </a:extLst>
          </p:cNvPr>
          <p:cNvSpPr/>
          <p:nvPr/>
        </p:nvSpPr>
        <p:spPr>
          <a:xfrm>
            <a:off x="889000" y="17526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08F58A-40FE-5A15-F04A-AAA1BF6DC2E3}"/>
              </a:ext>
            </a:extLst>
          </p:cNvPr>
          <p:cNvSpPr txBox="1"/>
          <p:nvPr/>
        </p:nvSpPr>
        <p:spPr>
          <a:xfrm>
            <a:off x="889000" y="18034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FE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414553-7762-3BE7-2424-C49DF476409F}"/>
              </a:ext>
            </a:extLst>
          </p:cNvPr>
          <p:cNvSpPr txBox="1"/>
          <p:nvPr/>
        </p:nvSpPr>
        <p:spPr>
          <a:xfrm>
            <a:off x="1371600" y="17907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前端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192E8A-7FB4-7752-8C4F-F8BE94D99199}"/>
              </a:ext>
            </a:extLst>
          </p:cNvPr>
          <p:cNvSpPr txBox="1"/>
          <p:nvPr/>
        </p:nvSpPr>
        <p:spPr>
          <a:xfrm>
            <a:off x="939800" y="2260600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fr-FR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Vue.js</a:t>
            </a:r>
          </a:p>
          <a:p>
            <a:pPr>
              <a:spcAft>
                <a:spcPts val="800"/>
              </a:spcAft>
            </a:pPr>
            <a:r>
              <a:rPr lang="fr-FR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Element UI</a:t>
            </a:r>
          </a:p>
          <a:p>
            <a:pPr>
              <a:spcAft>
                <a:spcPts val="800"/>
              </a:spcAft>
            </a:pPr>
            <a:r>
              <a:rPr lang="fr-FR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Axios / Vue Router</a:t>
            </a:r>
            <a:endParaRPr lang="zh-CN" altLang="en-US" sz="1200">
              <a:solidFill>
                <a:srgbClr val="2C532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82DCE30-B546-9E5C-F6AF-0A5728CC1BD5}"/>
              </a:ext>
            </a:extLst>
          </p:cNvPr>
          <p:cNvSpPr/>
          <p:nvPr/>
        </p:nvSpPr>
        <p:spPr>
          <a:xfrm>
            <a:off x="3378200" y="1524000"/>
            <a:ext cx="238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CF3BC4E-2767-12F2-E957-FEECC4CFEFE4}"/>
              </a:ext>
            </a:extLst>
          </p:cNvPr>
          <p:cNvSpPr/>
          <p:nvPr/>
        </p:nvSpPr>
        <p:spPr>
          <a:xfrm>
            <a:off x="3606800" y="17526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56E470-FA42-7E1F-25DE-6D5204BAD2E7}"/>
              </a:ext>
            </a:extLst>
          </p:cNvPr>
          <p:cNvSpPr txBox="1"/>
          <p:nvPr/>
        </p:nvSpPr>
        <p:spPr>
          <a:xfrm>
            <a:off x="3606800" y="18034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BE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84E92F-A5D1-E8E8-E8BB-F65CC54E7B9C}"/>
              </a:ext>
            </a:extLst>
          </p:cNvPr>
          <p:cNvSpPr txBox="1"/>
          <p:nvPr/>
        </p:nvSpPr>
        <p:spPr>
          <a:xfrm>
            <a:off x="4089400" y="17907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后端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72A95C-06C4-55E1-7D31-32FDAD5D07AF}"/>
              </a:ext>
            </a:extLst>
          </p:cNvPr>
          <p:cNvSpPr txBox="1"/>
          <p:nvPr/>
        </p:nvSpPr>
        <p:spPr>
          <a:xfrm>
            <a:off x="3657600" y="2260600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Java 8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Spring Boot 2.2.2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Spring MVC</a:t>
            </a:r>
            <a:endParaRPr lang="zh-CN" altLang="en-US" sz="1200">
              <a:solidFill>
                <a:srgbClr val="2C532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BA2A1B8-DBA0-5E42-0CAB-765D067230D4}"/>
              </a:ext>
            </a:extLst>
          </p:cNvPr>
          <p:cNvSpPr/>
          <p:nvPr/>
        </p:nvSpPr>
        <p:spPr>
          <a:xfrm>
            <a:off x="6096000" y="1524000"/>
            <a:ext cx="238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00FD312-2689-BB39-7600-03FD96B62A6F}"/>
              </a:ext>
            </a:extLst>
          </p:cNvPr>
          <p:cNvSpPr/>
          <p:nvPr/>
        </p:nvSpPr>
        <p:spPr>
          <a:xfrm>
            <a:off x="6324600" y="17526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D0A7E6-558F-791A-AF25-37276B3D01EB}"/>
              </a:ext>
            </a:extLst>
          </p:cNvPr>
          <p:cNvSpPr txBox="1"/>
          <p:nvPr/>
        </p:nvSpPr>
        <p:spPr>
          <a:xfrm>
            <a:off x="6324600" y="18034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DB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FC568CB-1E7F-6A50-1578-CB80853B552C}"/>
              </a:ext>
            </a:extLst>
          </p:cNvPr>
          <p:cNvSpPr txBox="1"/>
          <p:nvPr/>
        </p:nvSpPr>
        <p:spPr>
          <a:xfrm>
            <a:off x="6807200" y="17907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DD7928-DD38-F242-CB07-FEEE82A09AE0}"/>
              </a:ext>
            </a:extLst>
          </p:cNvPr>
          <p:cNvSpPr txBox="1"/>
          <p:nvPr/>
        </p:nvSpPr>
        <p:spPr>
          <a:xfrm>
            <a:off x="6375400" y="2260600"/>
            <a:ext cx="18288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fr-FR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MySQL</a:t>
            </a:r>
          </a:p>
          <a:p>
            <a:pPr>
              <a:spcAft>
                <a:spcPts val="800"/>
              </a:spcAft>
            </a:pPr>
            <a:r>
              <a:rPr lang="fr-FR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MyBatis</a:t>
            </a:r>
          </a:p>
          <a:p>
            <a:pPr>
              <a:spcAft>
                <a:spcPts val="800"/>
              </a:spcAft>
            </a:pPr>
            <a:r>
              <a:rPr lang="fr-FR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MyBatis-Plus 2.x</a:t>
            </a:r>
            <a:endParaRPr lang="zh-CN" altLang="en-US" sz="1200">
              <a:solidFill>
                <a:srgbClr val="2C532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9288048-0D3B-8231-15DC-134C263D9DA5}"/>
              </a:ext>
            </a:extLst>
          </p:cNvPr>
          <p:cNvSpPr/>
          <p:nvPr/>
        </p:nvSpPr>
        <p:spPr>
          <a:xfrm>
            <a:off x="889000" y="4064000"/>
            <a:ext cx="7366000" cy="685800"/>
          </a:xfrm>
          <a:prstGeom prst="roundRect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BAF057-31BA-5622-A765-3B848EC8F02E}"/>
              </a:ext>
            </a:extLst>
          </p:cNvPr>
          <p:cNvSpPr txBox="1"/>
          <p:nvPr/>
        </p:nvSpPr>
        <p:spPr>
          <a:xfrm>
            <a:off x="1193800" y="4292600"/>
            <a:ext cx="6756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400">
                <a:solidFill>
                  <a:srgbClr val="296F29"/>
                </a:solidFill>
                <a:latin typeface="Microsoft YaHei" panose="020B0503020204020204" pitchFamily="34" charset="-122"/>
              </a:rPr>
              <a:t>辅助能力：</a:t>
            </a:r>
            <a:r>
              <a:rPr lang="en-US" altLang="zh-CN" sz="1400">
                <a:solidFill>
                  <a:srgbClr val="296F29"/>
                </a:solidFill>
                <a:latin typeface="Microsoft YaHei" panose="020B0503020204020204" pitchFamily="34" charset="-122"/>
              </a:rPr>
              <a:t>Token</a:t>
            </a:r>
            <a:r>
              <a:rPr lang="zh-CN" altLang="en-US" sz="1400">
                <a:solidFill>
                  <a:srgbClr val="296F29"/>
                </a:solidFill>
                <a:latin typeface="Microsoft YaHei" panose="020B0503020204020204" pitchFamily="34" charset="-122"/>
              </a:rPr>
              <a:t>登录认证、文件上传、</a:t>
            </a:r>
            <a:r>
              <a:rPr lang="en-US" altLang="zh-CN" sz="1400">
                <a:solidFill>
                  <a:srgbClr val="296F29"/>
                </a:solidFill>
                <a:latin typeface="Microsoft YaHei" panose="020B0503020204020204" pitchFamily="34" charset="-122"/>
              </a:rPr>
              <a:t>ECharts</a:t>
            </a:r>
            <a:r>
              <a:rPr lang="zh-CN" altLang="en-US" sz="1400">
                <a:solidFill>
                  <a:srgbClr val="296F29"/>
                </a:solidFill>
                <a:latin typeface="Microsoft YaHei" panose="020B0503020204020204" pitchFamily="34" charset="-122"/>
              </a:rPr>
              <a:t>统计、系统日志、</a:t>
            </a:r>
            <a:r>
              <a:rPr lang="en-US" altLang="zh-CN" sz="1400">
                <a:solidFill>
                  <a:srgbClr val="296F29"/>
                </a:solidFill>
                <a:latin typeface="Microsoft YaHei" panose="020B0503020204020204" pitchFamily="34" charset="-122"/>
              </a:rPr>
              <a:t>DeepSeek</a:t>
            </a:r>
            <a:r>
              <a:rPr lang="zh-CN" altLang="en-US" sz="1400">
                <a:solidFill>
                  <a:srgbClr val="296F29"/>
                </a:solidFill>
                <a:latin typeface="Microsoft YaHei" panose="020B0503020204020204" pitchFamily="34" charset="-122"/>
              </a:rPr>
              <a:t>接口与推荐服务。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CA6D705-7B9B-B825-E89B-B62B5D8C9472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C9B8853-A9F3-C207-61B4-4CAA9D8A09CE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DDDCD6-6001-B461-E7A8-2278AE69C69B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0378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DCC65A-CEB2-7C2A-E359-864D8F1E4959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A0B3052-D282-CE9C-C4C6-B82002828B3B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CE47EF-F11D-5CCB-94C4-F560638172CD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核心业务模块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B15DD5C-C290-702A-B98C-F8741F1416E1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9288B2E-2BE2-0103-3A91-9F69C65DE6B3}"/>
              </a:ext>
            </a:extLst>
          </p:cNvPr>
          <p:cNvSpPr/>
          <p:nvPr/>
        </p:nvSpPr>
        <p:spPr>
          <a:xfrm>
            <a:off x="660400" y="1422400"/>
            <a:ext cx="23876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4797567-2285-2A0B-10B6-A475141F6C8F}"/>
              </a:ext>
            </a:extLst>
          </p:cNvPr>
          <p:cNvSpPr/>
          <p:nvPr/>
        </p:nvSpPr>
        <p:spPr>
          <a:xfrm>
            <a:off x="889000" y="16510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E282CF-BEC9-972D-2AC1-D53681B04388}"/>
              </a:ext>
            </a:extLst>
          </p:cNvPr>
          <p:cNvSpPr txBox="1"/>
          <p:nvPr/>
        </p:nvSpPr>
        <p:spPr>
          <a:xfrm>
            <a:off x="889000" y="17018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437D7A-0B22-EE9A-B22F-78826BFA3B8D}"/>
              </a:ext>
            </a:extLst>
          </p:cNvPr>
          <p:cNvSpPr txBox="1"/>
          <p:nvPr/>
        </p:nvSpPr>
        <p:spPr>
          <a:xfrm>
            <a:off x="1371600" y="16891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捐赠人端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4964FE-02FD-D6A3-10A5-52ADD615EC7C}"/>
              </a:ext>
            </a:extLst>
          </p:cNvPr>
          <p:cNvSpPr txBox="1"/>
          <p:nvPr/>
        </p:nvSpPr>
        <p:spPr>
          <a:xfrm>
            <a:off x="939800" y="2159000"/>
            <a:ext cx="1828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注册登录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物资捐赠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捐赠记录 </a:t>
            </a: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证书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追溯查询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08B2F6F-0405-7AE4-AC50-05480E73F013}"/>
              </a:ext>
            </a:extLst>
          </p:cNvPr>
          <p:cNvSpPr/>
          <p:nvPr/>
        </p:nvSpPr>
        <p:spPr>
          <a:xfrm>
            <a:off x="3378200" y="1422400"/>
            <a:ext cx="23876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AB19347-78D5-25B6-A64C-5389170AB3F8}"/>
              </a:ext>
            </a:extLst>
          </p:cNvPr>
          <p:cNvSpPr/>
          <p:nvPr/>
        </p:nvSpPr>
        <p:spPr>
          <a:xfrm>
            <a:off x="3606800" y="16510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E48391-3A59-22E8-7288-E08E0F161BE1}"/>
              </a:ext>
            </a:extLst>
          </p:cNvPr>
          <p:cNvSpPr txBox="1"/>
          <p:nvPr/>
        </p:nvSpPr>
        <p:spPr>
          <a:xfrm>
            <a:off x="3606800" y="17018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65FCA7-B77C-CD9B-EAE1-93AF7F0337AC}"/>
              </a:ext>
            </a:extLst>
          </p:cNvPr>
          <p:cNvSpPr txBox="1"/>
          <p:nvPr/>
        </p:nvSpPr>
        <p:spPr>
          <a:xfrm>
            <a:off x="4089400" y="16891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接收机构端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6F03BC-1FEC-49EA-7C2B-F8890A168583}"/>
              </a:ext>
            </a:extLst>
          </p:cNvPr>
          <p:cNvSpPr txBox="1"/>
          <p:nvPr/>
        </p:nvSpPr>
        <p:spPr>
          <a:xfrm>
            <a:off x="3657600" y="2159000"/>
            <a:ext cx="1828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物资申领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接收确认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使用反馈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异议反馈 </a:t>
            </a: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推荐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94F5188-AD2E-08F3-E93A-DAF30798E659}"/>
              </a:ext>
            </a:extLst>
          </p:cNvPr>
          <p:cNvSpPr/>
          <p:nvPr/>
        </p:nvSpPr>
        <p:spPr>
          <a:xfrm>
            <a:off x="6096000" y="1422400"/>
            <a:ext cx="23876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0CBC18C-C0BF-3D11-1B09-47C69699BA20}"/>
              </a:ext>
            </a:extLst>
          </p:cNvPr>
          <p:cNvSpPr/>
          <p:nvPr/>
        </p:nvSpPr>
        <p:spPr>
          <a:xfrm>
            <a:off x="6324600" y="16510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82F2AD-F86C-E34D-B4A6-BC3F6F2FEF04}"/>
              </a:ext>
            </a:extLst>
          </p:cNvPr>
          <p:cNvSpPr txBox="1"/>
          <p:nvPr/>
        </p:nvSpPr>
        <p:spPr>
          <a:xfrm>
            <a:off x="6324600" y="17018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A38419-6BA5-8B30-BDD7-8C56A7221A54}"/>
              </a:ext>
            </a:extLst>
          </p:cNvPr>
          <p:cNvSpPr txBox="1"/>
          <p:nvPr/>
        </p:nvSpPr>
        <p:spPr>
          <a:xfrm>
            <a:off x="6807200" y="1689100"/>
            <a:ext cx="142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管理员端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2A7056-DFBC-AD8F-2C75-322D73193A19}"/>
              </a:ext>
            </a:extLst>
          </p:cNvPr>
          <p:cNvSpPr txBox="1"/>
          <p:nvPr/>
        </p:nvSpPr>
        <p:spPr>
          <a:xfrm>
            <a:off x="6375400" y="2159000"/>
            <a:ext cx="18288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用户与机构审核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物资验收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出库分拨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公告统计 </a:t>
            </a: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日志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73F689-9FC5-A16D-5016-749BBA618ABB}"/>
              </a:ext>
            </a:extLst>
          </p:cNvPr>
          <p:cNvSpPr txBox="1"/>
          <p:nvPr/>
        </p:nvSpPr>
        <p:spPr>
          <a:xfrm>
            <a:off x="914400" y="4445000"/>
            <a:ext cx="736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重点模块：追溯查询把各业务记录串联成“物资生命流程”。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5ACACBD-63A9-05CA-1F08-5A0ED1225177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384BBCF-ADC8-4647-CBA9-870A89B40DCC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9AE47C-B2B3-9B4F-7818-DDEFFD6290A3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5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719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307E8D-E044-12B4-06C8-1350F6ADC43F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C5B2D5-9583-6AAF-1697-F22182EE47FB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B398B2-8FE7-853E-631E-05014BD8BABB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追溯查询功能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961051-8B58-0644-09E3-3D4C8B06A610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1B38FB-698F-D542-681B-7599C6113D4D}"/>
              </a:ext>
            </a:extLst>
          </p:cNvPr>
          <p:cNvSpPr txBox="1"/>
          <p:nvPr/>
        </p:nvSpPr>
        <p:spPr>
          <a:xfrm>
            <a:off x="1778000" y="9144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00">
                <a:solidFill>
                  <a:srgbClr val="6D5770"/>
                </a:solidFill>
                <a:latin typeface="Microsoft YaHei" panose="020B0503020204020204" pitchFamily="34" charset="-122"/>
              </a:rPr>
              <a:t>按捐赠编号串联全流程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34D4D54-A55C-142D-5EF8-DA5B26AB7CEE}"/>
              </a:ext>
            </a:extLst>
          </p:cNvPr>
          <p:cNvSpPr/>
          <p:nvPr/>
        </p:nvSpPr>
        <p:spPr>
          <a:xfrm>
            <a:off x="660400" y="1676400"/>
            <a:ext cx="14732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166F03E-5B46-6283-0925-73909FA92C6F}"/>
              </a:ext>
            </a:extLst>
          </p:cNvPr>
          <p:cNvSpPr/>
          <p:nvPr/>
        </p:nvSpPr>
        <p:spPr>
          <a:xfrm>
            <a:off x="812800" y="18415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13B60C-AD17-07DA-D2D8-AA67E76ABC0E}"/>
              </a:ext>
            </a:extLst>
          </p:cNvPr>
          <p:cNvSpPr txBox="1"/>
          <p:nvPr/>
        </p:nvSpPr>
        <p:spPr>
          <a:xfrm>
            <a:off x="812800" y="18923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7E951B-8DEE-38A6-546A-292E4FEC203D}"/>
              </a:ext>
            </a:extLst>
          </p:cNvPr>
          <p:cNvSpPr txBox="1"/>
          <p:nvPr/>
        </p:nvSpPr>
        <p:spPr>
          <a:xfrm>
            <a:off x="1270000" y="1892300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捐赠记录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F4A9043-DC4F-E9CE-4DC0-E79E30B14EC0}"/>
              </a:ext>
            </a:extLst>
          </p:cNvPr>
          <p:cNvCxnSpPr/>
          <p:nvPr/>
        </p:nvCxnSpPr>
        <p:spPr>
          <a:xfrm>
            <a:off x="2133600" y="2044700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BF1C256-02D6-999B-FAAE-CBB6234E8D30}"/>
              </a:ext>
            </a:extLst>
          </p:cNvPr>
          <p:cNvSpPr/>
          <p:nvPr/>
        </p:nvSpPr>
        <p:spPr>
          <a:xfrm>
            <a:off x="2514600" y="1676400"/>
            <a:ext cx="14732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DADB2B7-4731-7E03-A7B7-20486FF03983}"/>
              </a:ext>
            </a:extLst>
          </p:cNvPr>
          <p:cNvSpPr/>
          <p:nvPr/>
        </p:nvSpPr>
        <p:spPr>
          <a:xfrm>
            <a:off x="2667000" y="18415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8E2B65-A6B0-68AC-6A4A-BC1957525BC9}"/>
              </a:ext>
            </a:extLst>
          </p:cNvPr>
          <p:cNvSpPr txBox="1"/>
          <p:nvPr/>
        </p:nvSpPr>
        <p:spPr>
          <a:xfrm>
            <a:off x="2667000" y="18923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23E19A-4514-DAF9-AEE0-B96276B3BC39}"/>
              </a:ext>
            </a:extLst>
          </p:cNvPr>
          <p:cNvSpPr txBox="1"/>
          <p:nvPr/>
        </p:nvSpPr>
        <p:spPr>
          <a:xfrm>
            <a:off x="3124200" y="1892300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验收记录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784C527-85F0-C7B8-8652-622C348CADCC}"/>
              </a:ext>
            </a:extLst>
          </p:cNvPr>
          <p:cNvCxnSpPr/>
          <p:nvPr/>
        </p:nvCxnSpPr>
        <p:spPr>
          <a:xfrm>
            <a:off x="3987800" y="2044700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18F2206-24F4-BC60-1986-0361DF3C8C2C}"/>
              </a:ext>
            </a:extLst>
          </p:cNvPr>
          <p:cNvSpPr/>
          <p:nvPr/>
        </p:nvSpPr>
        <p:spPr>
          <a:xfrm>
            <a:off x="4368800" y="1676400"/>
            <a:ext cx="14732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CAA5D47-56B0-2CF4-F8F3-38DAD6360A8F}"/>
              </a:ext>
            </a:extLst>
          </p:cNvPr>
          <p:cNvSpPr/>
          <p:nvPr/>
        </p:nvSpPr>
        <p:spPr>
          <a:xfrm>
            <a:off x="4521200" y="18415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D55E2D0-297B-AE61-80C9-66D2C020FFAA}"/>
              </a:ext>
            </a:extLst>
          </p:cNvPr>
          <p:cNvSpPr txBox="1"/>
          <p:nvPr/>
        </p:nvSpPr>
        <p:spPr>
          <a:xfrm>
            <a:off x="4521200" y="18923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BFE3D3-FD90-39F6-A5B4-9F65E7B982AB}"/>
              </a:ext>
            </a:extLst>
          </p:cNvPr>
          <p:cNvSpPr txBox="1"/>
          <p:nvPr/>
        </p:nvSpPr>
        <p:spPr>
          <a:xfrm>
            <a:off x="4978400" y="1892300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物资申领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739620E-92C0-C5D0-A6CA-3F21B23F6571}"/>
              </a:ext>
            </a:extLst>
          </p:cNvPr>
          <p:cNvCxnSpPr/>
          <p:nvPr/>
        </p:nvCxnSpPr>
        <p:spPr>
          <a:xfrm>
            <a:off x="5842000" y="2044700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1E5C31B-855B-2B17-DAA1-ACD9DA2FA54C}"/>
              </a:ext>
            </a:extLst>
          </p:cNvPr>
          <p:cNvSpPr/>
          <p:nvPr/>
        </p:nvSpPr>
        <p:spPr>
          <a:xfrm>
            <a:off x="6223000" y="1676400"/>
            <a:ext cx="14732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E28D4A0-16EE-CF8E-62E4-A73B85E46030}"/>
              </a:ext>
            </a:extLst>
          </p:cNvPr>
          <p:cNvSpPr/>
          <p:nvPr/>
        </p:nvSpPr>
        <p:spPr>
          <a:xfrm>
            <a:off x="6375400" y="18415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8765F47-B3B3-0EE7-2B55-56ACF0A51E58}"/>
              </a:ext>
            </a:extLst>
          </p:cNvPr>
          <p:cNvSpPr txBox="1"/>
          <p:nvPr/>
        </p:nvSpPr>
        <p:spPr>
          <a:xfrm>
            <a:off x="6375400" y="18923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E415F61-B497-D5D3-39E9-1B3706CAC076}"/>
              </a:ext>
            </a:extLst>
          </p:cNvPr>
          <p:cNvSpPr txBox="1"/>
          <p:nvPr/>
        </p:nvSpPr>
        <p:spPr>
          <a:xfrm>
            <a:off x="6832600" y="1892300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出库分拨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744A781-C0AD-186A-1344-DBD55887C396}"/>
              </a:ext>
            </a:extLst>
          </p:cNvPr>
          <p:cNvCxnSpPr/>
          <p:nvPr/>
        </p:nvCxnSpPr>
        <p:spPr>
          <a:xfrm>
            <a:off x="6959600" y="2413000"/>
            <a:ext cx="0" cy="35560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571FB7D-2328-9D4F-C93A-FB62392BD86E}"/>
              </a:ext>
            </a:extLst>
          </p:cNvPr>
          <p:cNvSpPr/>
          <p:nvPr/>
        </p:nvSpPr>
        <p:spPr>
          <a:xfrm>
            <a:off x="6223000" y="2768600"/>
            <a:ext cx="14732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154BF8E-A7FA-028D-0A19-C16478645565}"/>
              </a:ext>
            </a:extLst>
          </p:cNvPr>
          <p:cNvSpPr/>
          <p:nvPr/>
        </p:nvSpPr>
        <p:spPr>
          <a:xfrm>
            <a:off x="6375400" y="29337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768F821-F19D-C5E0-620E-1A9A9C02924D}"/>
              </a:ext>
            </a:extLst>
          </p:cNvPr>
          <p:cNvSpPr txBox="1"/>
          <p:nvPr/>
        </p:nvSpPr>
        <p:spPr>
          <a:xfrm>
            <a:off x="6375400" y="29845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5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34E9166-C619-F7BE-6AA5-9F00394B866A}"/>
              </a:ext>
            </a:extLst>
          </p:cNvPr>
          <p:cNvSpPr txBox="1"/>
          <p:nvPr/>
        </p:nvSpPr>
        <p:spPr>
          <a:xfrm>
            <a:off x="6832600" y="2984500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接收信息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1D9A3B9-A413-26C0-B9CF-36E13F5BB2D0}"/>
              </a:ext>
            </a:extLst>
          </p:cNvPr>
          <p:cNvCxnSpPr/>
          <p:nvPr/>
        </p:nvCxnSpPr>
        <p:spPr>
          <a:xfrm flipH="1">
            <a:off x="5842000" y="3136900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16A7623-03E3-0FC0-46C9-3E555CDAD8CC}"/>
              </a:ext>
            </a:extLst>
          </p:cNvPr>
          <p:cNvSpPr/>
          <p:nvPr/>
        </p:nvSpPr>
        <p:spPr>
          <a:xfrm>
            <a:off x="4368800" y="2768600"/>
            <a:ext cx="14732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AFC9B63B-1A40-52FC-0B6E-D6B37D1E7162}"/>
              </a:ext>
            </a:extLst>
          </p:cNvPr>
          <p:cNvSpPr/>
          <p:nvPr/>
        </p:nvSpPr>
        <p:spPr>
          <a:xfrm>
            <a:off x="4521200" y="29337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CED7213-B703-7EA7-9AAF-40C742FD9424}"/>
              </a:ext>
            </a:extLst>
          </p:cNvPr>
          <p:cNvSpPr txBox="1"/>
          <p:nvPr/>
        </p:nvSpPr>
        <p:spPr>
          <a:xfrm>
            <a:off x="4521200" y="29845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6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73E465B-8392-713E-1463-887F466912AE}"/>
              </a:ext>
            </a:extLst>
          </p:cNvPr>
          <p:cNvSpPr txBox="1"/>
          <p:nvPr/>
        </p:nvSpPr>
        <p:spPr>
          <a:xfrm>
            <a:off x="4978400" y="2984500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使用反馈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D34DD06-8759-7936-A353-65A436A2A7E5}"/>
              </a:ext>
            </a:extLst>
          </p:cNvPr>
          <p:cNvCxnSpPr/>
          <p:nvPr/>
        </p:nvCxnSpPr>
        <p:spPr>
          <a:xfrm flipH="1">
            <a:off x="3987800" y="3136900"/>
            <a:ext cx="381000" cy="0"/>
          </a:xfrm>
          <a:prstGeom prst="line">
            <a:avLst/>
          </a:prstGeom>
          <a:ln w="19050">
            <a:solidFill>
              <a:srgbClr val="387F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C8C04C2-2136-0487-07B6-C60E2F98B7BE}"/>
              </a:ext>
            </a:extLst>
          </p:cNvPr>
          <p:cNvSpPr/>
          <p:nvPr/>
        </p:nvSpPr>
        <p:spPr>
          <a:xfrm>
            <a:off x="2514600" y="2768600"/>
            <a:ext cx="14732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4D67B33-C211-B511-E457-6CA1B00B2EF0}"/>
              </a:ext>
            </a:extLst>
          </p:cNvPr>
          <p:cNvSpPr/>
          <p:nvPr/>
        </p:nvSpPr>
        <p:spPr>
          <a:xfrm>
            <a:off x="2667000" y="2933700"/>
            <a:ext cx="381000" cy="279400"/>
          </a:xfrm>
          <a:prstGeom prst="round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802B471-44FC-2E70-5028-77C4F2BDF587}"/>
              </a:ext>
            </a:extLst>
          </p:cNvPr>
          <p:cNvSpPr txBox="1"/>
          <p:nvPr/>
        </p:nvSpPr>
        <p:spPr>
          <a:xfrm>
            <a:off x="2667000" y="2984500"/>
            <a:ext cx="38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7</a:t>
            </a:r>
            <a:endParaRPr lang="zh-CN" altLang="en-US" sz="8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93B59D9-5B9C-C376-8E5A-29FDE93925D4}"/>
              </a:ext>
            </a:extLst>
          </p:cNvPr>
          <p:cNvSpPr txBox="1"/>
          <p:nvPr/>
        </p:nvSpPr>
        <p:spPr>
          <a:xfrm>
            <a:off x="3124200" y="2984500"/>
            <a:ext cx="7366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2C532E"/>
                </a:solidFill>
                <a:latin typeface="Microsoft YaHei" panose="020B0503020204020204" pitchFamily="34" charset="-122"/>
              </a:rPr>
              <a:t>异议反馈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9A1FAA9-8ECC-E77E-B45E-4CDC9D446B43}"/>
              </a:ext>
            </a:extLst>
          </p:cNvPr>
          <p:cNvSpPr/>
          <p:nvPr/>
        </p:nvSpPr>
        <p:spPr>
          <a:xfrm>
            <a:off x="965200" y="4216400"/>
            <a:ext cx="7213600" cy="533400"/>
          </a:xfrm>
          <a:prstGeom prst="roundRect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AAA3FC5-74D4-43ED-E681-6F638210A9DE}"/>
              </a:ext>
            </a:extLst>
          </p:cNvPr>
          <p:cNvSpPr txBox="1"/>
          <p:nvPr/>
        </p:nvSpPr>
        <p:spPr>
          <a:xfrm>
            <a:off x="1193800" y="4394200"/>
            <a:ext cx="6756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300">
                <a:solidFill>
                  <a:srgbClr val="296F29"/>
                </a:solidFill>
                <a:latin typeface="Microsoft YaHei" panose="020B0503020204020204" pitchFamily="34" charset="-122"/>
              </a:rPr>
              <a:t>权限控制：管理员可查全部；捐赠人只能查询自己的捐赠记录。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1E5E0ED-D9AE-EE44-7440-CCABCF5F2591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E37309E8-32C7-6DDB-38DB-BB4ADDF247E1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55206C6-32DF-E8DC-7113-05495EFE2F36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6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9933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42EE36-3345-8C88-2E27-99D56205736E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7E75CDBE-D479-DEAF-8FF1-4C414AE04511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41DB0C-731B-224F-D1ED-446384FCEB8D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追溯查询实现方式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BE05A3-5C2B-AF4F-5AA8-A205C94EF9F1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9A984F-5D01-BD7A-137D-7D4FCAA7B993}"/>
              </a:ext>
            </a:extLst>
          </p:cNvPr>
          <p:cNvSpPr/>
          <p:nvPr/>
        </p:nvSpPr>
        <p:spPr>
          <a:xfrm>
            <a:off x="762000" y="1447800"/>
            <a:ext cx="5054600" cy="289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80CFE2-DC6A-D2F2-93A3-81A5E89DD07B}"/>
              </a:ext>
            </a:extLst>
          </p:cNvPr>
          <p:cNvSpPr txBox="1"/>
          <p:nvPr/>
        </p:nvSpPr>
        <p:spPr>
          <a:xfrm>
            <a:off x="1117600" y="1752600"/>
            <a:ext cx="4292600" cy="149271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后端接口：</a:t>
            </a: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/zhuishuchaxun/trace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。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查询依据：</a:t>
            </a: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juanzengbianhao 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捐赠编号。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返回结构：捐赠信息、验收记录、申领分支、出库记录、接收信息、反馈信息。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前端展示：以流程节点方式展示物资流转状态。</a:t>
            </a:r>
          </a:p>
          <a:p>
            <a:pPr>
              <a:spcAft>
                <a:spcPts val="800"/>
              </a:spcAft>
            </a:pPr>
            <a:r>
              <a:rPr lang="en-US" altLang="zh-CN" sz="13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2C532E"/>
                </a:solidFill>
                <a:latin typeface="Microsoft YaHei" panose="020B0503020204020204" pitchFamily="34" charset="-122"/>
              </a:rPr>
              <a:t>异常提示：缺少关键记录时显示暂无验收、暂无申领、暂无出库等提示。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3C49E60-BBC1-D635-41A3-4CD7BC29D7C8}"/>
              </a:ext>
            </a:extLst>
          </p:cNvPr>
          <p:cNvSpPr/>
          <p:nvPr/>
        </p:nvSpPr>
        <p:spPr>
          <a:xfrm>
            <a:off x="6350000" y="1600200"/>
            <a:ext cx="1905000" cy="1905000"/>
          </a:xfrm>
          <a:prstGeom prst="roundRect">
            <a:avLst/>
          </a:prstGeom>
          <a:solidFill>
            <a:srgbClr val="F1F7E8"/>
          </a:solidFill>
          <a:ln w="12700">
            <a:solidFill>
              <a:srgbClr val="C7D8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7BF10E-C9EA-F66E-EBD3-1FC273878CD7}"/>
              </a:ext>
            </a:extLst>
          </p:cNvPr>
          <p:cNvSpPr txBox="1"/>
          <p:nvPr/>
        </p:nvSpPr>
        <p:spPr>
          <a:xfrm>
            <a:off x="6578600" y="2298700"/>
            <a:ext cx="14478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200" b="1">
                <a:solidFill>
                  <a:srgbClr val="296F29"/>
                </a:solidFill>
                <a:latin typeface="Microsoft YaHei" panose="020B0503020204020204" pitchFamily="34" charset="-122"/>
              </a:rPr>
              <a:t>图片占位：追溯查询页面截图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697901-6620-BCDF-69C2-BC409801E3C3}"/>
              </a:ext>
            </a:extLst>
          </p:cNvPr>
          <p:cNvSpPr txBox="1"/>
          <p:nvPr/>
        </p:nvSpPr>
        <p:spPr>
          <a:xfrm>
            <a:off x="965200" y="4597400"/>
            <a:ext cx="7213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400" b="1">
                <a:solidFill>
                  <a:srgbClr val="296F29"/>
                </a:solidFill>
                <a:latin typeface="Microsoft YaHei" panose="020B0503020204020204" pitchFamily="34" charset="-122"/>
              </a:rPr>
              <a:t>讲解重点：一个编号贯穿全链路，一次查询定位物资当前状态。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929137E-9EFF-61BA-2D5B-309987C8C78D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A4DA1CB-61D2-D056-76FC-973820313F05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C2785C-510E-53FA-F48B-D6EAE79BDD9C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7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00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AA3363-83A9-26BC-D37A-51C711041BFD}"/>
              </a:ext>
            </a:extLst>
          </p:cNvPr>
          <p:cNvSpPr/>
          <p:nvPr/>
        </p:nvSpPr>
        <p:spPr>
          <a:xfrm>
            <a:off x="0" y="0"/>
            <a:ext cx="228600" cy="54864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119A8AB-1AFD-B258-96E4-52CDE92793A4}"/>
              </a:ext>
            </a:extLst>
          </p:cNvPr>
          <p:cNvSpPr/>
          <p:nvPr/>
        </p:nvSpPr>
        <p:spPr>
          <a:xfrm>
            <a:off x="5473700" y="-9398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30D2B9-E67A-862B-D5E6-55FF3798F2CE}"/>
              </a:ext>
            </a:extLst>
          </p:cNvPr>
          <p:cNvSpPr txBox="1"/>
          <p:nvPr/>
        </p:nvSpPr>
        <p:spPr>
          <a:xfrm>
            <a:off x="660400" y="431800"/>
            <a:ext cx="7874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00" b="1">
                <a:solidFill>
                  <a:srgbClr val="2C532E"/>
                </a:solidFill>
                <a:latin typeface="Microsoft YaHei" panose="020B0503020204020204" pitchFamily="34" charset="-122"/>
              </a:rPr>
              <a:t>不足与展望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A63BE1-C761-8027-F87F-8338B701231D}"/>
              </a:ext>
            </a:extLst>
          </p:cNvPr>
          <p:cNvSpPr/>
          <p:nvPr/>
        </p:nvSpPr>
        <p:spPr>
          <a:xfrm>
            <a:off x="660400" y="990600"/>
            <a:ext cx="939800" cy="50800"/>
          </a:xfrm>
          <a:prstGeom prst="rect">
            <a:avLst/>
          </a:prstGeom>
          <a:solidFill>
            <a:srgbClr val="387F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D65AE-0712-34CD-1AB9-0903D309011C}"/>
              </a:ext>
            </a:extLst>
          </p:cNvPr>
          <p:cNvSpPr/>
          <p:nvPr/>
        </p:nvSpPr>
        <p:spPr>
          <a:xfrm>
            <a:off x="1092200" y="1625600"/>
            <a:ext cx="3073400" cy="218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348A800-4E6C-6824-4A4E-3120E93D41FA}"/>
              </a:ext>
            </a:extLst>
          </p:cNvPr>
          <p:cNvSpPr/>
          <p:nvPr/>
        </p:nvSpPr>
        <p:spPr>
          <a:xfrm>
            <a:off x="1320800" y="18542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A85246-6854-386F-95B5-43625F208B4D}"/>
              </a:ext>
            </a:extLst>
          </p:cNvPr>
          <p:cNvSpPr txBox="1"/>
          <p:nvPr/>
        </p:nvSpPr>
        <p:spPr>
          <a:xfrm>
            <a:off x="1320800" y="19050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!</a:t>
            </a:r>
            <a:endParaRPr lang="zh-CN" altLang="en-US" sz="1100" b="1">
              <a:solidFill>
                <a:srgbClr val="296F2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03704E-C472-6AF6-6BBA-646B224A1137}"/>
              </a:ext>
            </a:extLst>
          </p:cNvPr>
          <p:cNvSpPr txBox="1"/>
          <p:nvPr/>
        </p:nvSpPr>
        <p:spPr>
          <a:xfrm>
            <a:off x="1803400" y="1892300"/>
            <a:ext cx="2108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当前不足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97CEFF-AFE6-4204-C240-DB317B23A550}"/>
              </a:ext>
            </a:extLst>
          </p:cNvPr>
          <p:cNvSpPr txBox="1"/>
          <p:nvPr/>
        </p:nvSpPr>
        <p:spPr>
          <a:xfrm>
            <a:off x="1371600" y="2362200"/>
            <a:ext cx="2514600" cy="65094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主要面向</a:t>
            </a: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Web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端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移动端体验可优化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高并发场景仍可加强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BF0343-15A8-7675-389C-DA61646B23FC}"/>
              </a:ext>
            </a:extLst>
          </p:cNvPr>
          <p:cNvSpPr/>
          <p:nvPr/>
        </p:nvSpPr>
        <p:spPr>
          <a:xfrm>
            <a:off x="4978400" y="1625600"/>
            <a:ext cx="3073400" cy="218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848AB4A-902A-37B6-CFF9-19F51ED356BD}"/>
              </a:ext>
            </a:extLst>
          </p:cNvPr>
          <p:cNvSpPr/>
          <p:nvPr/>
        </p:nvSpPr>
        <p:spPr>
          <a:xfrm>
            <a:off x="5207000" y="1854200"/>
            <a:ext cx="355600" cy="3556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18F60C-5203-DBB8-8B51-5E0DD2CA76D9}"/>
              </a:ext>
            </a:extLst>
          </p:cNvPr>
          <p:cNvSpPr txBox="1"/>
          <p:nvPr/>
        </p:nvSpPr>
        <p:spPr>
          <a:xfrm>
            <a:off x="5207000" y="1905000"/>
            <a:ext cx="355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100" b="1">
                <a:solidFill>
                  <a:srgbClr val="296F29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1C3134-81BA-9BF2-4608-F619EA4E2777}"/>
              </a:ext>
            </a:extLst>
          </p:cNvPr>
          <p:cNvSpPr txBox="1"/>
          <p:nvPr/>
        </p:nvSpPr>
        <p:spPr>
          <a:xfrm>
            <a:off x="5689600" y="1892300"/>
            <a:ext cx="2108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296F29"/>
                </a:solidFill>
                <a:latin typeface="Microsoft YaHei" panose="020B0503020204020204" pitchFamily="34" charset="-122"/>
              </a:rPr>
              <a:t>后续展望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F63A17-9255-9324-4369-693E3B9DA140}"/>
              </a:ext>
            </a:extLst>
          </p:cNvPr>
          <p:cNvSpPr txBox="1"/>
          <p:nvPr/>
        </p:nvSpPr>
        <p:spPr>
          <a:xfrm>
            <a:off x="5257800" y="2362200"/>
            <a:ext cx="2514600" cy="8371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二维码扫码追溯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缓存与性能优化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区块链或电子签章提升可信度</a:t>
            </a:r>
          </a:p>
          <a:p>
            <a:pPr>
              <a:spcAft>
                <a:spcPts val="800"/>
              </a:spcAft>
            </a:pPr>
            <a:r>
              <a:rPr lang="en-US" altLang="zh-CN" sz="1200">
                <a:solidFill>
                  <a:srgbClr val="2C532E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C532E"/>
                </a:solidFill>
                <a:latin typeface="Microsoft YaHei" panose="020B0503020204020204" pitchFamily="34" charset="-122"/>
              </a:rPr>
              <a:t>完善统计与智能推荐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8B610A-7AE7-EA38-1174-FCA49222294D}"/>
              </a:ext>
            </a:extLst>
          </p:cNvPr>
          <p:cNvSpPr txBox="1"/>
          <p:nvPr/>
        </p:nvSpPr>
        <p:spPr>
          <a:xfrm>
            <a:off x="1016000" y="4394200"/>
            <a:ext cx="711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600" b="1">
                <a:solidFill>
                  <a:srgbClr val="296F29"/>
                </a:solidFill>
                <a:latin typeface="Microsoft YaHei" panose="020B0503020204020204" pitchFamily="34" charset="-122"/>
              </a:rPr>
              <a:t>目标：让物资流向更透明，让公益管理更高效。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3F8233B-F46A-22E6-0E8F-431301C52E28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9372475-E624-B0C1-6845-07C6F9300E52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4F48F24-E139-8606-0BE8-A63A54040A2C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8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413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1A05DC9C-0B2D-CE54-F2C7-BD4CC771CEE0}"/>
              </a:ext>
            </a:extLst>
          </p:cNvPr>
          <p:cNvSpPr/>
          <p:nvPr/>
        </p:nvSpPr>
        <p:spPr>
          <a:xfrm>
            <a:off x="3175000" y="889000"/>
            <a:ext cx="2794000" cy="2794000"/>
          </a:xfrm>
          <a:prstGeom prst="ellipse">
            <a:avLst/>
          </a:prstGeom>
          <a:solidFill>
            <a:srgbClr val="E3F4E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096723-37BA-9DA9-F2A2-1304781C15AF}"/>
              </a:ext>
            </a:extLst>
          </p:cNvPr>
          <p:cNvSpPr txBox="1"/>
          <p:nvPr/>
        </p:nvSpPr>
        <p:spPr>
          <a:xfrm>
            <a:off x="1143000" y="2006600"/>
            <a:ext cx="6858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3400" b="1">
                <a:solidFill>
                  <a:srgbClr val="296F29"/>
                </a:solidFill>
                <a:latin typeface="Microsoft YaHei" panose="020B0503020204020204" pitchFamily="34" charset="-122"/>
              </a:rPr>
              <a:t>感谢聆听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6ACABE-96FB-C01D-C23F-D148E237613C}"/>
              </a:ext>
            </a:extLst>
          </p:cNvPr>
          <p:cNvSpPr txBox="1"/>
          <p:nvPr/>
        </p:nvSpPr>
        <p:spPr>
          <a:xfrm>
            <a:off x="1143000" y="2794000"/>
            <a:ext cx="6858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700">
                <a:solidFill>
                  <a:srgbClr val="2C532E"/>
                </a:solidFill>
                <a:latin typeface="Microsoft YaHei" panose="020B0503020204020204" pitchFamily="34" charset="-122"/>
              </a:rPr>
              <a:t>请各位老师批评指正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EE18AE8-22AE-265C-B6ED-21D65644BF89}"/>
              </a:ext>
            </a:extLst>
          </p:cNvPr>
          <p:cNvSpPr/>
          <p:nvPr/>
        </p:nvSpPr>
        <p:spPr>
          <a:xfrm>
            <a:off x="3175000" y="3873500"/>
            <a:ext cx="2794000" cy="787400"/>
          </a:xfrm>
          <a:prstGeom prst="roundRect">
            <a:avLst/>
          </a:prstGeom>
          <a:solidFill>
            <a:srgbClr val="F1F7E8"/>
          </a:solidFill>
          <a:ln w="12700">
            <a:solidFill>
              <a:srgbClr val="C7D8B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4515DF-9709-974E-1907-3056F2AC0004}"/>
              </a:ext>
            </a:extLst>
          </p:cNvPr>
          <p:cNvSpPr txBox="1"/>
          <p:nvPr/>
        </p:nvSpPr>
        <p:spPr>
          <a:xfrm>
            <a:off x="3403600" y="4013200"/>
            <a:ext cx="2336800" cy="4647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zh-CN" altLang="en-US" sz="1200" b="1">
                <a:solidFill>
                  <a:srgbClr val="296F29"/>
                </a:solidFill>
                <a:latin typeface="Microsoft YaHei" panose="020B0503020204020204" pitchFamily="34" charset="-122"/>
              </a:rPr>
              <a:t>图片占位：系统关键页面或公益主题图片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FD1752-6574-0C79-F9BE-B1FD244E110A}"/>
              </a:ext>
            </a:extLst>
          </p:cNvPr>
          <p:cNvCxnSpPr/>
          <p:nvPr/>
        </p:nvCxnSpPr>
        <p:spPr>
          <a:xfrm>
            <a:off x="660400" y="5003800"/>
            <a:ext cx="5994400" cy="0"/>
          </a:xfrm>
          <a:prstGeom prst="line">
            <a:avLst/>
          </a:prstGeom>
          <a:ln w="7620">
            <a:solidFill>
              <a:srgbClr val="E2E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B621C77-A8A6-D4E3-D57F-055EC20940EA}"/>
              </a:ext>
            </a:extLst>
          </p:cNvPr>
          <p:cNvSpPr txBox="1"/>
          <p:nvPr/>
        </p:nvSpPr>
        <p:spPr>
          <a:xfrm>
            <a:off x="660400" y="513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00">
                <a:solidFill>
                  <a:srgbClr val="6D5770"/>
                </a:solidFill>
                <a:latin typeface="Microsoft YaHei" panose="020B0503020204020204" pitchFamily="34" charset="-122"/>
              </a:rPr>
              <a:t>公益捐赠物资管理系统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8CAC8D-C8FE-3CCE-9A28-167D15C54AC8}"/>
              </a:ext>
            </a:extLst>
          </p:cNvPr>
          <p:cNvSpPr txBox="1"/>
          <p:nvPr/>
        </p:nvSpPr>
        <p:spPr>
          <a:xfrm>
            <a:off x="6400800" y="5118100"/>
            <a:ext cx="25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zh-CN" sz="800">
                <a:solidFill>
                  <a:srgbClr val="6D5770"/>
                </a:solidFill>
                <a:latin typeface="Microsoft YaHei" panose="020B0503020204020204" pitchFamily="34" charset="-122"/>
              </a:rPr>
              <a:t>9</a:t>
            </a:r>
            <a:endParaRPr lang="zh-CN" altLang="en-US" sz="800">
              <a:solidFill>
                <a:srgbClr val="6D57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769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Microsoft Office PowerPoint</Application>
  <PresentationFormat>自定义</PresentationFormat>
  <Paragraphs>124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丰羽 陈</dc:creator>
  <cp:lastModifiedBy>丰羽 陈</cp:lastModifiedBy>
  <cp:revision>1</cp:revision>
  <dcterms:created xsi:type="dcterms:W3CDTF">2026-05-08T06:28:30Z</dcterms:created>
  <dcterms:modified xsi:type="dcterms:W3CDTF">2026-05-08T06:28:30Z</dcterms:modified>
</cp:coreProperties>
</file>